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6" r:id="rId10"/>
  </p:sldIdLst>
  <p:sldSz cx="18288000" cy="10287000"/>
  <p:notesSz cx="6858000" cy="9144000"/>
  <p:embeddedFontLst>
    <p:embeddedFont>
      <p:font typeface="Agency FB" panose="020B0503020202020204" pitchFamily="34" charset="0"/>
      <p:regular r:id="rId11"/>
      <p:bold r:id="rId12"/>
    </p:embeddedFont>
    <p:embeddedFont>
      <p:font typeface="Britannic Bold" panose="020B0903060703020204" pitchFamily="34" charset="0"/>
      <p:regular r:id="rId13"/>
    </p:embeddedFont>
    <p:embeddedFont>
      <p:font typeface="Garamond" panose="02020404030301010803" pitchFamily="18" charset="0"/>
      <p:regular r:id="rId14"/>
      <p:bold r:id="rId15"/>
      <p:italic r:id="rId16"/>
    </p:embeddedFont>
    <p:embeddedFont>
      <p:font typeface="ITC Avant Garde Gothic" panose="020B0604020202020204" charset="0"/>
      <p:regular r:id="rId17"/>
    </p:embeddedFont>
    <p:embeddedFont>
      <p:font typeface="TT Fors" panose="020B0604020202020204" charset="0"/>
      <p:regular r:id="rId18"/>
    </p:embeddedFont>
    <p:embeddedFont>
      <p:font typeface="TT For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3596AF-AFFF-4C26-AF4F-F517ACD89C15}" v="2" dt="2026-02-07T09:34:46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dhi Lahoti" userId="7fc12f11b766cf58" providerId="LiveId" clId="{6C6DC64F-F843-4064-A2B3-C7F3E0D9DAA3}"/>
    <pc:docChg chg="custSel modSld">
      <pc:chgData name="Riddhi Lahoti" userId="7fc12f11b766cf58" providerId="LiveId" clId="{6C6DC64F-F843-4064-A2B3-C7F3E0D9DAA3}" dt="2026-02-07T09:38:45.794" v="46" actId="1076"/>
      <pc:docMkLst>
        <pc:docMk/>
      </pc:docMkLst>
      <pc:sldChg chg="delSp mod">
        <pc:chgData name="Riddhi Lahoti" userId="7fc12f11b766cf58" providerId="LiveId" clId="{6C6DC64F-F843-4064-A2B3-C7F3E0D9DAA3}" dt="2026-02-07T09:34:55.110" v="39" actId="478"/>
        <pc:sldMkLst>
          <pc:docMk/>
          <pc:sldMk cId="0" sldId="256"/>
        </pc:sldMkLst>
        <pc:grpChg chg="del">
          <ac:chgData name="Riddhi Lahoti" userId="7fc12f11b766cf58" providerId="LiveId" clId="{6C6DC64F-F843-4064-A2B3-C7F3E0D9DAA3}" dt="2026-02-07T09:34:55.110" v="39" actId="478"/>
          <ac:grpSpMkLst>
            <pc:docMk/>
            <pc:sldMk cId="0" sldId="256"/>
            <ac:grpSpMk id="6" creationId="{00000000-0000-0000-0000-000000000000}"/>
          </ac:grpSpMkLst>
        </pc:grpChg>
      </pc:sldChg>
      <pc:sldChg chg="modSp mod">
        <pc:chgData name="Riddhi Lahoti" userId="7fc12f11b766cf58" providerId="LiveId" clId="{6C6DC64F-F843-4064-A2B3-C7F3E0D9DAA3}" dt="2026-02-07T09:31:42.833" v="7" actId="20577"/>
        <pc:sldMkLst>
          <pc:docMk/>
          <pc:sldMk cId="0" sldId="257"/>
        </pc:sldMkLst>
        <pc:spChg chg="mod">
          <ac:chgData name="Riddhi Lahoti" userId="7fc12f11b766cf58" providerId="LiveId" clId="{6C6DC64F-F843-4064-A2B3-C7F3E0D9DAA3}" dt="2026-02-07T09:31:42.833" v="7" actId="20577"/>
          <ac:spMkLst>
            <pc:docMk/>
            <pc:sldMk cId="0" sldId="257"/>
            <ac:spMk id="15" creationId="{D6DD2676-3C6B-E61C-558C-16F6631BBB53}"/>
          </ac:spMkLst>
        </pc:spChg>
      </pc:sldChg>
      <pc:sldChg chg="modSp mod">
        <pc:chgData name="Riddhi Lahoti" userId="7fc12f11b766cf58" providerId="LiveId" clId="{6C6DC64F-F843-4064-A2B3-C7F3E0D9DAA3}" dt="2026-02-07T09:32:31.086" v="10" actId="14100"/>
        <pc:sldMkLst>
          <pc:docMk/>
          <pc:sldMk cId="0" sldId="258"/>
        </pc:sldMkLst>
        <pc:spChg chg="mod">
          <ac:chgData name="Riddhi Lahoti" userId="7fc12f11b766cf58" providerId="LiveId" clId="{6C6DC64F-F843-4064-A2B3-C7F3E0D9DAA3}" dt="2026-02-07T09:32:31.086" v="10" actId="14100"/>
          <ac:spMkLst>
            <pc:docMk/>
            <pc:sldMk cId="0" sldId="258"/>
            <ac:spMk id="11" creationId="{AA9AF483-297E-1FEB-62F1-AB45D2D2DE60}"/>
          </ac:spMkLst>
        </pc:spChg>
      </pc:sldChg>
      <pc:sldChg chg="modSp mod">
        <pc:chgData name="Riddhi Lahoti" userId="7fc12f11b766cf58" providerId="LiveId" clId="{6C6DC64F-F843-4064-A2B3-C7F3E0D9DAA3}" dt="2026-02-07T09:32:49.007" v="13" actId="1076"/>
        <pc:sldMkLst>
          <pc:docMk/>
          <pc:sldMk cId="0" sldId="259"/>
        </pc:sldMkLst>
        <pc:spChg chg="mod">
          <ac:chgData name="Riddhi Lahoti" userId="7fc12f11b766cf58" providerId="LiveId" clId="{6C6DC64F-F843-4064-A2B3-C7F3E0D9DAA3}" dt="2026-02-07T09:32:49.007" v="13" actId="1076"/>
          <ac:spMkLst>
            <pc:docMk/>
            <pc:sldMk cId="0" sldId="259"/>
            <ac:spMk id="11" creationId="{FB2FC87D-AC0F-AB76-E284-99E8F12DA632}"/>
          </ac:spMkLst>
        </pc:spChg>
      </pc:sldChg>
      <pc:sldChg chg="modSp mod">
        <pc:chgData name="Riddhi Lahoti" userId="7fc12f11b766cf58" providerId="LiveId" clId="{6C6DC64F-F843-4064-A2B3-C7F3E0D9DAA3}" dt="2026-02-07T09:38:16.275" v="42" actId="1076"/>
        <pc:sldMkLst>
          <pc:docMk/>
          <pc:sldMk cId="0" sldId="260"/>
        </pc:sldMkLst>
        <pc:spChg chg="mod">
          <ac:chgData name="Riddhi Lahoti" userId="7fc12f11b766cf58" providerId="LiveId" clId="{6C6DC64F-F843-4064-A2B3-C7F3E0D9DAA3}" dt="2026-02-07T09:38:06.338" v="40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iddhi Lahoti" userId="7fc12f11b766cf58" providerId="LiveId" clId="{6C6DC64F-F843-4064-A2B3-C7F3E0D9DAA3}" dt="2026-02-07T09:38:08.820" v="41" actId="1076"/>
          <ac:spMkLst>
            <pc:docMk/>
            <pc:sldMk cId="0" sldId="260"/>
            <ac:spMk id="11" creationId="{EFDDDD86-2255-547F-C3EB-27E20C36D0CE}"/>
          </ac:spMkLst>
        </pc:spChg>
        <pc:spChg chg="mod">
          <ac:chgData name="Riddhi Lahoti" userId="7fc12f11b766cf58" providerId="LiveId" clId="{6C6DC64F-F843-4064-A2B3-C7F3E0D9DAA3}" dt="2026-02-07T09:38:16.275" v="42" actId="1076"/>
          <ac:spMkLst>
            <pc:docMk/>
            <pc:sldMk cId="0" sldId="260"/>
            <ac:spMk id="13" creationId="{FD48196A-CC22-D22A-7D7D-810CDE9AFBE2}"/>
          </ac:spMkLst>
        </pc:spChg>
      </pc:sldChg>
      <pc:sldChg chg="modSp mod">
        <pc:chgData name="Riddhi Lahoti" userId="7fc12f11b766cf58" providerId="LiveId" clId="{6C6DC64F-F843-4064-A2B3-C7F3E0D9DAA3}" dt="2026-02-07T09:38:31.497" v="44" actId="1076"/>
        <pc:sldMkLst>
          <pc:docMk/>
          <pc:sldMk cId="0" sldId="261"/>
        </pc:sldMkLst>
        <pc:spChg chg="mod">
          <ac:chgData name="Riddhi Lahoti" userId="7fc12f11b766cf58" providerId="LiveId" clId="{6C6DC64F-F843-4064-A2B3-C7F3E0D9DAA3}" dt="2026-02-07T09:38:27.022" v="43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iddhi Lahoti" userId="7fc12f11b766cf58" providerId="LiveId" clId="{6C6DC64F-F843-4064-A2B3-C7F3E0D9DAA3}" dt="2026-02-07T09:38:31.497" v="44" actId="1076"/>
          <ac:spMkLst>
            <pc:docMk/>
            <pc:sldMk cId="0" sldId="261"/>
            <ac:spMk id="4" creationId="{00000000-0000-0000-0000-000000000000}"/>
          </ac:spMkLst>
        </pc:spChg>
      </pc:sldChg>
      <pc:sldChg chg="addSp modSp mod">
        <pc:chgData name="Riddhi Lahoti" userId="7fc12f11b766cf58" providerId="LiveId" clId="{6C6DC64F-F843-4064-A2B3-C7F3E0D9DAA3}" dt="2026-02-07T09:34:19.358" v="37" actId="20577"/>
        <pc:sldMkLst>
          <pc:docMk/>
          <pc:sldMk cId="0" sldId="264"/>
        </pc:sldMkLst>
        <pc:spChg chg="mod">
          <ac:chgData name="Riddhi Lahoti" userId="7fc12f11b766cf58" providerId="LiveId" clId="{6C6DC64F-F843-4064-A2B3-C7F3E0D9DAA3}" dt="2026-02-07T09:34:19.358" v="37" actId="20577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Riddhi Lahoti" userId="7fc12f11b766cf58" providerId="LiveId" clId="{6C6DC64F-F843-4064-A2B3-C7F3E0D9DAA3}" dt="2026-02-07T09:31:13.721" v="3" actId="1076"/>
          <ac:picMkLst>
            <pc:docMk/>
            <pc:sldMk cId="0" sldId="264"/>
            <ac:picMk id="5" creationId="{4E9F0592-5554-4AD5-F7D3-8F2357E03429}"/>
          </ac:picMkLst>
        </pc:picChg>
      </pc:sldChg>
      <pc:sldChg chg="addSp modSp mod">
        <pc:chgData name="Riddhi Lahoti" userId="7fc12f11b766cf58" providerId="LiveId" clId="{6C6DC64F-F843-4064-A2B3-C7F3E0D9DAA3}" dt="2026-02-07T09:38:45.794" v="46" actId="1076"/>
        <pc:sldMkLst>
          <pc:docMk/>
          <pc:sldMk cId="3573446120" sldId="266"/>
        </pc:sldMkLst>
        <pc:spChg chg="mod">
          <ac:chgData name="Riddhi Lahoti" userId="7fc12f11b766cf58" providerId="LiveId" clId="{6C6DC64F-F843-4064-A2B3-C7F3E0D9DAA3}" dt="2026-02-07T09:38:39.854" v="45" actId="1076"/>
          <ac:spMkLst>
            <pc:docMk/>
            <pc:sldMk cId="3573446120" sldId="266"/>
            <ac:spMk id="4" creationId="{2EA86912-D271-9A0E-4B88-12B1B40FC82E}"/>
          </ac:spMkLst>
        </pc:spChg>
        <pc:spChg chg="mod">
          <ac:chgData name="Riddhi Lahoti" userId="7fc12f11b766cf58" providerId="LiveId" clId="{6C6DC64F-F843-4064-A2B3-C7F3E0D9DAA3}" dt="2026-02-07T09:38:45.794" v="46" actId="1076"/>
          <ac:spMkLst>
            <pc:docMk/>
            <pc:sldMk cId="3573446120" sldId="266"/>
            <ac:spMk id="7" creationId="{B03BBF08-0E62-AB12-69ED-2FCE5C2A450C}"/>
          </ac:spMkLst>
        </pc:spChg>
        <pc:spChg chg="mod">
          <ac:chgData name="Riddhi Lahoti" userId="7fc12f11b766cf58" providerId="LiveId" clId="{6C6DC64F-F843-4064-A2B3-C7F3E0D9DAA3}" dt="2026-02-07T09:34:46.647" v="38"/>
          <ac:spMkLst>
            <pc:docMk/>
            <pc:sldMk cId="3573446120" sldId="266"/>
            <ac:spMk id="9" creationId="{FAD556D4-9179-49A7-3A30-34549782D436}"/>
          </ac:spMkLst>
        </pc:spChg>
        <pc:spChg chg="mod">
          <ac:chgData name="Riddhi Lahoti" userId="7fc12f11b766cf58" providerId="LiveId" clId="{6C6DC64F-F843-4064-A2B3-C7F3E0D9DAA3}" dt="2026-02-07T09:34:46.647" v="38"/>
          <ac:spMkLst>
            <pc:docMk/>
            <pc:sldMk cId="3573446120" sldId="266"/>
            <ac:spMk id="10" creationId="{E75A425E-E830-D730-FB88-1316C5546350}"/>
          </ac:spMkLst>
        </pc:spChg>
        <pc:spChg chg="mod">
          <ac:chgData name="Riddhi Lahoti" userId="7fc12f11b766cf58" providerId="LiveId" clId="{6C6DC64F-F843-4064-A2B3-C7F3E0D9DAA3}" dt="2026-02-07T09:34:46.647" v="38"/>
          <ac:spMkLst>
            <pc:docMk/>
            <pc:sldMk cId="3573446120" sldId="266"/>
            <ac:spMk id="11" creationId="{B7214AEF-6709-FAB2-57CC-BF5FC745CB2B}"/>
          </ac:spMkLst>
        </pc:spChg>
        <pc:grpChg chg="add mod">
          <ac:chgData name="Riddhi Lahoti" userId="7fc12f11b766cf58" providerId="LiveId" clId="{6C6DC64F-F843-4064-A2B3-C7F3E0D9DAA3}" dt="2026-02-07T09:34:46.647" v="38"/>
          <ac:grpSpMkLst>
            <pc:docMk/>
            <pc:sldMk cId="3573446120" sldId="266"/>
            <ac:grpSpMk id="8" creationId="{184A4126-ECC3-D383-B5FA-CD671EDCA3FF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25200" y="-22860"/>
            <a:ext cx="7051216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05247" y="4804946"/>
            <a:ext cx="11062903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4400">
                <a:latin typeface="Agency FB" panose="020B0503020202020204" pitchFamily="34" charset="0"/>
              </a:rPr>
              <a:t>AI-Based Weather-Aware Road Risk Prediction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135102"/>
            <a:ext cx="719465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>
                <a:solidFill>
                  <a:srgbClr val="203040"/>
                </a:solidFill>
                <a:latin typeface="TT Fors Bold"/>
                <a:ea typeface="TT Fors Bold"/>
                <a:cs typeface="TT Fors Bold"/>
                <a:sym typeface="TT Fors Bold"/>
              </a:rPr>
              <a:t>Presented by :- Team-13</a:t>
            </a:r>
            <a:r>
              <a:rPr lang="en-US" sz="2600">
                <a:solidFill>
                  <a:srgbClr val="20304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73CE2-E427-686A-C67A-F49026367D6A}"/>
              </a:ext>
            </a:extLst>
          </p:cNvPr>
          <p:cNvSpPr txBox="1"/>
          <p:nvPr/>
        </p:nvSpPr>
        <p:spPr>
          <a:xfrm>
            <a:off x="787737" y="1835709"/>
            <a:ext cx="1167556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>
                <a:latin typeface="Britannic Bold" panose="020B0903060703020204" pitchFamily="34" charset="0"/>
              </a:rPr>
              <a:t>Proactive Road Monitoring </a:t>
            </a:r>
            <a:endParaRPr lang="en-IN" sz="8800">
              <a:latin typeface="Britannic Bold" panose="020B09030607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59606"/>
            <a:ext cx="11201400" cy="2938581"/>
            <a:chOff x="0" y="-9525"/>
            <a:chExt cx="14935200" cy="3918108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409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b="1" u="none" strike="noStrike" spc="-240">
                  <a:solidFill>
                    <a:srgbClr val="203040"/>
                  </a:solidFill>
                  <a:latin typeface="Garamond" panose="02020404030301010803" pitchFamily="18" charset="0"/>
                  <a:ea typeface="ITC Avant Garde Gothic"/>
                  <a:cs typeface="ITC Avant Garde Gothic"/>
                  <a:sym typeface="ITC Avant Garde Gothic"/>
                </a:rPr>
                <a:t>Problem Identification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428964"/>
              <a:ext cx="11099800" cy="479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03040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35200"/>
              <a:ext cx="130175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 lang="en-US" sz="3199" u="none" strike="noStrike" spc="-95">
                <a:solidFill>
                  <a:srgbClr val="507190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82600" y="8239166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6DD2676-3C6B-E61C-558C-16F6631BBB53}"/>
              </a:ext>
            </a:extLst>
          </p:cNvPr>
          <p:cNvSpPr txBox="1"/>
          <p:nvPr/>
        </p:nvSpPr>
        <p:spPr>
          <a:xfrm>
            <a:off x="967620" y="2343150"/>
            <a:ext cx="13145714" cy="672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an AI system to: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 weather, traffic, and road data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 road accident risk levels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 preventive safety measures.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Relevance &amp; Impact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Bad weather increases accident risk.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 lack real-time risk awareness.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Authorities need predictive safety tools.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helps reduce accidents and improve road safety.</a:t>
            </a: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38200" y="901743"/>
            <a:ext cx="11201400" cy="103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 spc="-240">
                <a:solidFill>
                  <a:srgbClr val="20304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System Inputs &amp; Outputs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639800" y="8495045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A9AF483-297E-1FEB-62F1-AB45D2D2DE60}"/>
              </a:ext>
            </a:extLst>
          </p:cNvPr>
          <p:cNvSpPr txBox="1"/>
          <p:nvPr/>
        </p:nvSpPr>
        <p:spPr>
          <a:xfrm>
            <a:off x="1143000" y="2144597"/>
            <a:ext cx="12877799" cy="752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Inputs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Weather data (temperature, rainfall, visibility, windspeed)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Traffic conditions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Road and location information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Historical accident severity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Road Risk Level Prediction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 Risk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Medium Risk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Risk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Alerts for high-risk areas or conditions.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659606"/>
            <a:ext cx="11201400" cy="103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 spc="-240">
                <a:solidFill>
                  <a:srgbClr val="20304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Dataset Overview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258800" y="819150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B2FC87D-AC0F-AB76-E284-99E8F12DA632}"/>
              </a:ext>
            </a:extLst>
          </p:cNvPr>
          <p:cNvSpPr txBox="1"/>
          <p:nvPr/>
        </p:nvSpPr>
        <p:spPr>
          <a:xfrm>
            <a:off x="1003506" y="2247900"/>
            <a:ext cx="12289707" cy="644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u="sng">
                <a:latin typeface="Garamond" panose="02020404030301010803" pitchFamily="18" charset="0"/>
              </a:rPr>
              <a:t>Data Collection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>
                <a:latin typeface="Garamond" panose="02020404030301010803" pitchFamily="18" charset="0"/>
              </a:rPr>
              <a:t>Dataset: </a:t>
            </a:r>
            <a:r>
              <a:rPr lang="en-IN" sz="3200" b="1">
                <a:latin typeface="Garamond" panose="02020404030301010803" pitchFamily="18" charset="0"/>
              </a:rPr>
              <a:t>US Accidents (2016–2023)</a:t>
            </a:r>
            <a:endParaRPr lang="en-IN" sz="3200">
              <a:latin typeface="Garamond" panose="02020404030301010803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>
                <a:latin typeface="Garamond" panose="02020404030301010803" pitchFamily="18" charset="0"/>
              </a:rPr>
              <a:t>Source: Kaggle (Public dataset)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>
                <a:latin typeface="Garamond" panose="02020404030301010803" pitchFamily="18" charset="0"/>
              </a:rPr>
              <a:t>Type: Public dataset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>
                <a:latin typeface="Garamond" panose="02020404030301010803" pitchFamily="18" charset="0"/>
              </a:rPr>
              <a:t>Records available: ~7.7 million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>
                <a:latin typeface="Garamond" panose="02020404030301010803" pitchFamily="18" charset="0"/>
              </a:rPr>
              <a:t>Sample used: </a:t>
            </a:r>
            <a:r>
              <a:rPr lang="en-IN" sz="3200" b="1">
                <a:latin typeface="Garamond" panose="02020404030301010803" pitchFamily="18" charset="0"/>
              </a:rPr>
              <a:t>50,000 records</a:t>
            </a:r>
            <a:endParaRPr lang="en-IN" sz="3200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200" b="1" u="sng">
                <a:latin typeface="Garamond" panose="02020404030301010803" pitchFamily="18" charset="0"/>
              </a:rPr>
              <a:t>Time Period</a:t>
            </a:r>
            <a:endParaRPr lang="en-IN" sz="3200" u="sng"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200">
                <a:latin typeface="Garamond" panose="02020404030301010803" pitchFamily="18" charset="0"/>
              </a:rPr>
              <a:t>Feb 2016 – March 2023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8479"/>
            <a:ext cx="16525875" cy="1287844"/>
            <a:chOff x="0" y="144717"/>
            <a:chExt cx="22034500" cy="5110066"/>
          </a:xfrm>
        </p:grpSpPr>
        <p:sp>
          <p:nvSpPr>
            <p:cNvPr id="3" name="TextBox 3"/>
            <p:cNvSpPr txBox="1"/>
            <p:nvPr/>
          </p:nvSpPr>
          <p:spPr>
            <a:xfrm>
              <a:off x="165100" y="144717"/>
              <a:ext cx="21869400" cy="41114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b="1" u="none" strike="noStrike" spc="-240">
                  <a:solidFill>
                    <a:srgbClr val="20304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Features and Target Variable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75164"/>
              <a:ext cx="11099800" cy="479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>
                <a:solidFill>
                  <a:srgbClr val="203040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426117" y="8487425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FDDDD86-2255-547F-C3EB-27E20C36D0CE}"/>
              </a:ext>
            </a:extLst>
          </p:cNvPr>
          <p:cNvSpPr txBox="1"/>
          <p:nvPr/>
        </p:nvSpPr>
        <p:spPr>
          <a:xfrm>
            <a:off x="1143000" y="2247900"/>
            <a:ext cx="6629400" cy="6834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 u="sng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 Used</a:t>
            </a:r>
            <a:endParaRPr lang="en-IN" sz="3200" u="sng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Weather Features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Temperature, Precipitation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Visibility, Wind Speed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Weather Condition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Traffic &amp; Road Features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Traffic Signal, Junction, Crossing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Road Surface, Sunrise/Sunset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Location Features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City, State, Latitude, Longitude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8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8196A-CC22-D22A-7D7D-810CDE9AFBE2}"/>
              </a:ext>
            </a:extLst>
          </p:cNvPr>
          <p:cNvSpPr txBox="1"/>
          <p:nvPr/>
        </p:nvSpPr>
        <p:spPr>
          <a:xfrm>
            <a:off x="8959645" y="2247900"/>
            <a:ext cx="9792928" cy="3646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 b="1" u="sng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Variable</a:t>
            </a:r>
            <a:endParaRPr lang="en-IN" sz="3200" u="sng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Accident Severity (1–4)</a:t>
            </a:r>
            <a:b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Converted into: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 Risk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Medium Risk</a:t>
            </a:r>
            <a:endParaRPr lang="en-IN" sz="320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Risk</a:t>
            </a:r>
            <a:endParaRPr lang="en-IN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876300"/>
            <a:ext cx="11372850" cy="7298319"/>
            <a:chOff x="0" y="279400"/>
            <a:chExt cx="15163800" cy="9731089"/>
          </a:xfrm>
        </p:grpSpPr>
        <p:sp>
          <p:nvSpPr>
            <p:cNvPr id="3" name="TextBox 3"/>
            <p:cNvSpPr txBox="1"/>
            <p:nvPr/>
          </p:nvSpPr>
          <p:spPr>
            <a:xfrm>
              <a:off x="228600" y="279400"/>
              <a:ext cx="14935200" cy="1381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b="1" u="none" strike="noStrike" spc="-240">
                  <a:solidFill>
                    <a:srgbClr val="20304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Size &amp; Format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0" y="2882899"/>
              <a:ext cx="11099800" cy="7127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IN" sz="3600">
                  <a:latin typeface="Garamond" panose="02020404030301010803" pitchFamily="18" charset="0"/>
                </a:rPr>
                <a:t>Total Records Used: 50,000</a:t>
              </a:r>
            </a:p>
            <a:p>
              <a:pPr lvl="0"/>
              <a:r>
                <a:rPr lang="en-IN" sz="3600">
                  <a:latin typeface="Garamond" panose="02020404030301010803" pitchFamily="18" charset="0"/>
                </a:rPr>
                <a:t>Total Columns: 46</a:t>
              </a:r>
            </a:p>
            <a:p>
              <a:pPr lvl="0"/>
              <a:r>
                <a:rPr lang="en-IN" sz="3600">
                  <a:latin typeface="Garamond" panose="02020404030301010803" pitchFamily="18" charset="0"/>
                </a:rPr>
                <a:t>Data Format: CSV</a:t>
              </a:r>
            </a:p>
            <a:p>
              <a:pPr lvl="0"/>
              <a:r>
                <a:rPr lang="en-IN" sz="3600">
                  <a:latin typeface="Garamond" panose="02020404030301010803" pitchFamily="18" charset="0"/>
                </a:rPr>
                <a:t>Memory Usage: ~62 MB</a:t>
              </a:r>
            </a:p>
            <a:p>
              <a:pPr lvl="0"/>
              <a:endParaRPr lang="en-IN" sz="3600">
                <a:latin typeface="Garamond" panose="02020404030301010803" pitchFamily="18" charset="0"/>
              </a:endParaRPr>
            </a:p>
            <a:p>
              <a:r>
                <a:rPr lang="en-IN" sz="3600" b="1" u="sng">
                  <a:latin typeface="Garamond" panose="02020404030301010803" pitchFamily="18" charset="0"/>
                </a:rPr>
                <a:t>Dataset contains:</a:t>
              </a:r>
            </a:p>
            <a:p>
              <a:pPr lvl="0"/>
              <a:r>
                <a:rPr lang="en-IN" sz="3600">
                  <a:latin typeface="Garamond" panose="02020404030301010803" pitchFamily="18" charset="0"/>
                </a:rPr>
                <a:t>Numerical features</a:t>
              </a:r>
            </a:p>
            <a:p>
              <a:pPr lvl="0"/>
              <a:r>
                <a:rPr lang="en-IN" sz="3600">
                  <a:latin typeface="Garamond" panose="02020404030301010803" pitchFamily="18" charset="0"/>
                </a:rPr>
                <a:t>Categorical features</a:t>
              </a:r>
            </a:p>
            <a:p>
              <a:pPr lvl="0"/>
              <a:r>
                <a:rPr lang="en-IN" sz="3600">
                  <a:latin typeface="Garamond" panose="02020404030301010803" pitchFamily="18" charset="0"/>
                </a:rPr>
                <a:t>Boolean features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>
                <a:solidFill>
                  <a:srgbClr val="203040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35200"/>
              <a:ext cx="130175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 lang="en-US" sz="3199" u="none" strike="noStrike" spc="-95">
                <a:solidFill>
                  <a:srgbClr val="507190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441357" y="826770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98C-46F6-A0CB-0F2A-2008C424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022C21BE-DC93-B5B4-DC31-2833A5BC4DFA}"/>
              </a:ext>
            </a:extLst>
          </p:cNvPr>
          <p:cNvGrpSpPr/>
          <p:nvPr/>
        </p:nvGrpSpPr>
        <p:grpSpPr>
          <a:xfrm>
            <a:off x="13944600" y="8472185"/>
            <a:ext cx="4846643" cy="1791955"/>
            <a:chOff x="0" y="0"/>
            <a:chExt cx="6462190" cy="23892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CE3C8B5-69C2-113C-D7B4-B3EAD3F0FB2B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AA731EC-9ACA-A4CC-E29F-DBB52E5603D4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3E11702-7E1D-A39B-E23E-2325CE136537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4A8FB7C-AB14-C64D-BADC-962E5F60A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57889"/>
            <a:ext cx="15940629" cy="877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2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7200" y="641987"/>
            <a:ext cx="17253119" cy="2892521"/>
            <a:chOff x="-279400" y="-33017"/>
            <a:chExt cx="23004159" cy="3856693"/>
          </a:xfrm>
        </p:grpSpPr>
        <p:sp>
          <p:nvSpPr>
            <p:cNvPr id="3" name="TextBox 3"/>
            <p:cNvSpPr txBox="1"/>
            <p:nvPr/>
          </p:nvSpPr>
          <p:spPr>
            <a:xfrm>
              <a:off x="-118759" y="-33017"/>
              <a:ext cx="22843518" cy="13815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000"/>
                </a:lnSpc>
                <a:spcBef>
                  <a:spcPct val="0"/>
                </a:spcBef>
              </a:pPr>
              <a:r>
                <a:rPr lang="en-US" sz="8000" b="1" u="none" strike="noStrike" spc="-240">
                  <a:solidFill>
                    <a:srgbClr val="20304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Model Selection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279400" y="1033169"/>
              <a:ext cx="22843518" cy="27905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endParaRPr lang="en-IN" sz="4000" b="1" u="sng">
                <a:latin typeface="Garamond" panose="02020404030301010803" pitchFamily="18" charset="0"/>
              </a:endParaRPr>
            </a:p>
            <a:p>
              <a:pPr algn="ctr"/>
              <a:r>
                <a:rPr lang="en-IN" sz="4000" b="1" u="sng">
                  <a:latin typeface="Garamond" panose="02020404030301010803" pitchFamily="18" charset="0"/>
                </a:rPr>
                <a:t>Random Forest Classifier</a:t>
              </a:r>
            </a:p>
            <a:p>
              <a:r>
                <a:rPr lang="en-IN" sz="2800">
                  <a:latin typeface="Garamond" panose="02020404030301010803" pitchFamily="18" charset="0"/>
                </a:rPr>
                <a:t> </a:t>
              </a:r>
              <a:endParaRPr lang="en-US" sz="2100">
                <a:solidFill>
                  <a:srgbClr val="203040"/>
                </a:solidFill>
                <a:latin typeface="TT Fors"/>
                <a:sym typeface="TT Fors"/>
              </a:endParaRPr>
            </a:p>
            <a:p>
              <a:endParaRPr lang="en-IN" sz="2800">
                <a:latin typeface="Garamond" panose="02020404030301010803" pitchFamily="18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563600" y="8495045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E9F0592-5554-4AD5-F7D3-8F2357E03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920" y="2914022"/>
            <a:ext cx="10791825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A86912-D271-9A0E-4B88-12B1B40FC82E}"/>
              </a:ext>
            </a:extLst>
          </p:cNvPr>
          <p:cNvSpPr txBox="1"/>
          <p:nvPr/>
        </p:nvSpPr>
        <p:spPr>
          <a:xfrm>
            <a:off x="-1118678" y="779214"/>
            <a:ext cx="17132638" cy="1036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  <a:spcBef>
                <a:spcPct val="0"/>
              </a:spcBef>
            </a:pPr>
            <a:r>
              <a:rPr lang="en-US" sz="8000" b="1" u="none" strike="noStrike" spc="-240">
                <a:solidFill>
                  <a:srgbClr val="20304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Model Selection Justification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03BBF08-0E62-AB12-69ED-2FCE5C2A450C}"/>
              </a:ext>
            </a:extLst>
          </p:cNvPr>
          <p:cNvSpPr txBox="1"/>
          <p:nvPr/>
        </p:nvSpPr>
        <p:spPr>
          <a:xfrm>
            <a:off x="990600" y="2095500"/>
            <a:ext cx="17132638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>
                <a:latin typeface="Garamond" panose="02020404030301010803" pitchFamily="18" charset="0"/>
              </a:rPr>
              <a:t> </a:t>
            </a:r>
            <a:endParaRPr lang="en-US" sz="2100">
              <a:solidFill>
                <a:srgbClr val="203040"/>
              </a:solidFill>
              <a:latin typeface="TT Fors"/>
              <a:sym typeface="TT Fors"/>
            </a:endParaRPr>
          </a:p>
          <a:p>
            <a:r>
              <a:rPr lang="en-US" sz="2800" b="1">
                <a:latin typeface="Garamond" panose="02020404030301010803" pitchFamily="18" charset="0"/>
              </a:rPr>
              <a:t>High Accuracy</a:t>
            </a:r>
            <a:br>
              <a:rPr lang="en-US" sz="2800">
                <a:latin typeface="Garamond" panose="02020404030301010803" pitchFamily="18" charset="0"/>
              </a:rPr>
            </a:br>
            <a:r>
              <a:rPr lang="en-US" sz="2800">
                <a:latin typeface="Garamond" panose="02020404030301010803" pitchFamily="18" charset="0"/>
              </a:rPr>
              <a:t>Uses many decision trees together, so it gives more accurate and stable results than a single tree.</a:t>
            </a:r>
          </a:p>
          <a:p>
            <a:endParaRPr lang="en-US" sz="2800">
              <a:latin typeface="Garamond" panose="02020404030301010803" pitchFamily="18" charset="0"/>
            </a:endParaRPr>
          </a:p>
          <a:p>
            <a:r>
              <a:rPr lang="en-US" sz="2800" b="1">
                <a:latin typeface="Garamond" panose="02020404030301010803" pitchFamily="18" charset="0"/>
              </a:rPr>
              <a:t>Shows Important Features</a:t>
            </a:r>
            <a:br>
              <a:rPr lang="en-US" sz="2800">
                <a:latin typeface="Garamond" panose="02020404030301010803" pitchFamily="18" charset="0"/>
              </a:rPr>
            </a:br>
            <a:r>
              <a:rPr lang="en-US" sz="2800">
                <a:latin typeface="Garamond" panose="02020404030301010803" pitchFamily="18" charset="0"/>
              </a:rPr>
              <a:t>Tells which factors (like weather or road condition) affect the prediction the most.</a:t>
            </a:r>
          </a:p>
          <a:p>
            <a:endParaRPr lang="en-US" sz="2800">
              <a:latin typeface="Garamond" panose="02020404030301010803" pitchFamily="18" charset="0"/>
            </a:endParaRPr>
          </a:p>
          <a:p>
            <a:r>
              <a:rPr lang="en-US" sz="2800" b="1">
                <a:latin typeface="Garamond" panose="02020404030301010803" pitchFamily="18" charset="0"/>
              </a:rPr>
              <a:t>Works Well with Real Data</a:t>
            </a:r>
            <a:br>
              <a:rPr lang="en-US" sz="2800">
                <a:latin typeface="Garamond" panose="02020404030301010803" pitchFamily="18" charset="0"/>
              </a:rPr>
            </a:br>
            <a:r>
              <a:rPr lang="en-US" sz="2800">
                <a:latin typeface="Garamond" panose="02020404030301010803" pitchFamily="18" charset="0"/>
              </a:rPr>
              <a:t>Handles noisy data, outliers, and some missing values easily.</a:t>
            </a:r>
          </a:p>
          <a:p>
            <a:endParaRPr lang="en-US" sz="2800">
              <a:latin typeface="Garamond" panose="02020404030301010803" pitchFamily="18" charset="0"/>
            </a:endParaRPr>
          </a:p>
          <a:p>
            <a:r>
              <a:rPr lang="en-US" sz="2800" b="1">
                <a:latin typeface="Garamond" panose="02020404030301010803" pitchFamily="18" charset="0"/>
              </a:rPr>
              <a:t>Moderate Complexity</a:t>
            </a:r>
            <a:br>
              <a:rPr lang="en-US" sz="2800">
                <a:latin typeface="Garamond" panose="02020404030301010803" pitchFamily="18" charset="0"/>
              </a:rPr>
            </a:br>
            <a:r>
              <a:rPr lang="en-US" sz="2800">
                <a:latin typeface="Garamond" panose="02020404030301010803" pitchFamily="18" charset="0"/>
              </a:rPr>
              <a:t>More powerful than simple models but easier to understand than deep learning models.</a:t>
            </a:r>
          </a:p>
          <a:p>
            <a:endParaRPr lang="en-US" sz="2800">
              <a:latin typeface="Garamond" panose="02020404030301010803" pitchFamily="18" charset="0"/>
            </a:endParaRPr>
          </a:p>
          <a:p>
            <a:r>
              <a:rPr lang="en-US" sz="2800" b="1">
                <a:latin typeface="Garamond" panose="02020404030301010803" pitchFamily="18" charset="0"/>
              </a:rPr>
              <a:t>Fast and Efficient</a:t>
            </a:r>
            <a:br>
              <a:rPr lang="en-US" sz="2800">
                <a:latin typeface="Garamond" panose="02020404030301010803" pitchFamily="18" charset="0"/>
              </a:rPr>
            </a:br>
            <a:r>
              <a:rPr lang="en-US" sz="2800">
                <a:latin typeface="Garamond" panose="02020404030301010803" pitchFamily="18" charset="0"/>
              </a:rPr>
              <a:t>Trains quickly and works well for medium-sized datasets.</a:t>
            </a:r>
          </a:p>
          <a:p>
            <a:endParaRPr lang="en-IN" sz="2800">
              <a:latin typeface="Garamond" panose="02020404030301010803" pitchFamily="18" charset="0"/>
            </a:endParaRP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184A4126-ECC3-D383-B5FA-CD671EDCA3FF}"/>
              </a:ext>
            </a:extLst>
          </p:cNvPr>
          <p:cNvGrpSpPr/>
          <p:nvPr/>
        </p:nvGrpSpPr>
        <p:grpSpPr>
          <a:xfrm>
            <a:off x="13563600" y="8495045"/>
            <a:ext cx="4846643" cy="1791955"/>
            <a:chOff x="0" y="0"/>
            <a:chExt cx="6462190" cy="2389273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AD556D4-9179-49A7-3A30-34549782D436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E75A425E-E830-D730-FB88-1316C5546350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B7214AEF-6709-FAB2-57CC-BF5FC745CB2B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573446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Custom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Agency FB</vt:lpstr>
      <vt:lpstr>Britannic Bold</vt:lpstr>
      <vt:lpstr>Garamond</vt:lpstr>
      <vt:lpstr>ITC Avant Garde Gothic</vt:lpstr>
      <vt:lpstr>TT Fors</vt:lpstr>
      <vt:lpstr>TT Fors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AI-Based Weather-Aware Road Risk System</dc:title>
  <dc:description>Presentation - AI-Based Weather-Aware Road Risk System</dc:description>
  <cp:lastModifiedBy>Riddhi Lahoti</cp:lastModifiedBy>
  <cp:revision>1</cp:revision>
  <dcterms:created xsi:type="dcterms:W3CDTF">2006-08-16T00:00:00Z</dcterms:created>
  <dcterms:modified xsi:type="dcterms:W3CDTF">2026-02-07T10:29:21Z</dcterms:modified>
  <dc:identifier>DAHAn2g30_M</dc:identifier>
</cp:coreProperties>
</file>