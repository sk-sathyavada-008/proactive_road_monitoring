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5"/>
  </p:notesMasterIdLst>
  <p:handoutMasterIdLst>
    <p:handoutMasterId r:id="rId16"/>
  </p:handoutMasterIdLst>
  <p:sldIdLst>
    <p:sldId id="1497" r:id="rId5"/>
    <p:sldId id="1514" r:id="rId6"/>
    <p:sldId id="1512" r:id="rId7"/>
    <p:sldId id="1515" r:id="rId8"/>
    <p:sldId id="1516" r:id="rId9"/>
    <p:sldId id="1499" r:id="rId10"/>
    <p:sldId id="1502" r:id="rId11"/>
    <p:sldId id="1519" r:id="rId12"/>
    <p:sldId id="1518" r:id="rId13"/>
    <p:sldId id="151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8D104-133C-20FD-3749-5029102D4C7A}" v="277" dt="2026-02-07T21:05:54.099"/>
    <p1510:client id="{4B540F86-DD6A-46C0-A5A7-CF470CC90F82}" v="108" dt="2026-02-07T20:43:17.549"/>
    <p1510:client id="{57F82931-106A-4AD7-B449-5DBC612ACEBC}" v="77" dt="2026-02-07T20:49:13.788"/>
    <p1510:client id="{C422B1C9-FA85-44B6-AE0A-EE5C2114CE2A}" v="71" dt="2026-02-07T21:04:15.478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xmlns="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xmlns="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2/8/2026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xmlns="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2/8/2026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="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2/8/2026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xmlns="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2/8/2026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xmlns="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xmlns="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2/8/2026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xmlns="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xmlns="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xmlns="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xmlns="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xmlns="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xmlns="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-time-weather-ri-p62h.bolt.host/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180" y="1996797"/>
            <a:ext cx="8686801" cy="2565902"/>
          </a:xfrm>
        </p:spPr>
        <p:txBody>
          <a:bodyPr>
            <a:normAutofit/>
          </a:bodyPr>
          <a:lstStyle/>
          <a:p>
            <a:r>
              <a:rPr lang="en-US" b="1"/>
              <a:t>Proactive Road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09864" y="6183250"/>
            <a:ext cx="3024899" cy="5479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cs typeface="Poppins Light"/>
              </a:rPr>
              <a:t>Presented by : Team-13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25" y="691642"/>
            <a:ext cx="5166820" cy="1386965"/>
          </a:xfrm>
        </p:spPr>
        <p:txBody>
          <a:bodyPr/>
          <a:lstStyle/>
          <a:p>
            <a:r>
              <a:rPr lang="en-US" b="1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647" y="2240990"/>
            <a:ext cx="4366917" cy="35121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u="sng">
                <a:ea typeface="+mn-lt"/>
                <a:cs typeface="+mn-lt"/>
              </a:rPr>
              <a:t>Evaluation metrics</a:t>
            </a:r>
            <a:endParaRPr lang="en-US" b="1" u="sng"/>
          </a:p>
          <a:p>
            <a:r>
              <a:rPr lang="en-US" b="1">
                <a:ea typeface="+mn-lt"/>
                <a:cs typeface="+mn-lt"/>
              </a:rPr>
              <a:t>Accuracy:</a:t>
            </a:r>
            <a:r>
              <a:rPr lang="en-US">
                <a:ea typeface="+mn-lt"/>
                <a:cs typeface="+mn-lt"/>
              </a:rPr>
              <a:t> Overall percentage of correct predictions made by the model.</a:t>
            </a:r>
            <a:endParaRPr lang="en-US">
              <a:cs typeface="Poppins Light"/>
            </a:endParaRPr>
          </a:p>
          <a:p>
            <a:r>
              <a:rPr lang="en-US" b="1">
                <a:ea typeface="+mn-lt"/>
                <a:cs typeface="+mn-lt"/>
              </a:rPr>
              <a:t>Precision:</a:t>
            </a:r>
            <a:r>
              <a:rPr lang="en-US">
                <a:ea typeface="+mn-lt"/>
                <a:cs typeface="+mn-lt"/>
              </a:rPr>
              <a:t> Measures how many predicted risk cases are actually correct.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Recall:</a:t>
            </a:r>
            <a:r>
              <a:rPr lang="en-US">
                <a:ea typeface="+mn-lt"/>
                <a:cs typeface="+mn-lt"/>
              </a:rPr>
              <a:t> Measures how many actual risky cases are successfully detected.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F1 Score:</a:t>
            </a:r>
            <a:r>
              <a:rPr lang="en-US">
                <a:ea typeface="+mn-lt"/>
                <a:cs typeface="+mn-lt"/>
              </a:rPr>
              <a:t> Balanced measure combining Precision and Recall.</a:t>
            </a:r>
            <a:endParaRPr lang="en-US"/>
          </a:p>
          <a:p>
            <a:endParaRPr lang="en-US">
              <a:cs typeface="Poppins Light"/>
            </a:endParaRPr>
          </a:p>
        </p:txBody>
      </p:sp>
      <p:pic>
        <p:nvPicPr>
          <p:cNvPr id="6" name="Picture Placeholder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xmlns="" id="{0E0AEB55-3786-7D16-0B78-AC0BA1BC6E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0000" r="10000"/>
          <a:stretch/>
        </p:blipFill>
        <p:spPr>
          <a:xfrm>
            <a:off x="5100343" y="472722"/>
            <a:ext cx="6326363" cy="57008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398" y="504735"/>
            <a:ext cx="11137625" cy="1468999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Comparison with baseline model </a:t>
            </a:r>
            <a:endParaRPr lang="en-US" b="1"/>
          </a:p>
        </p:txBody>
      </p:sp>
      <p:pic>
        <p:nvPicPr>
          <p:cNvPr id="11" name="Picture Placeholder 10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xmlns="" id="{DAB4E343-B362-461B-D515-B93D23D9427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2580" r="22580"/>
          <a:stretch/>
        </p:blipFill>
        <p:spPr>
          <a:xfrm>
            <a:off x="2442857" y="1975589"/>
            <a:ext cx="7765187" cy="4243916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3" cstate="print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A608D3D-2F14-2508-4634-FDEAAD4F9D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58" y="260890"/>
            <a:ext cx="7843489" cy="972595"/>
          </a:xfrm>
        </p:spPr>
        <p:txBody>
          <a:bodyPr>
            <a:normAutofit fontScale="85000" lnSpcReduction="10000"/>
          </a:bodyPr>
          <a:lstStyle/>
          <a:p>
            <a:r>
              <a:rPr lang="en-US" sz="4800" b="1"/>
              <a:t>RESULTS &amp; INTERPRETATION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76AF31FE-9172-7B3D-9396-98A32AD4D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63" y="1241316"/>
            <a:ext cx="6958860" cy="50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20C38A-9567-D3DD-C7FD-8FA11306C0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7679" y="635103"/>
            <a:ext cx="6154507" cy="725056"/>
          </a:xfrm>
        </p:spPr>
        <p:txBody>
          <a:bodyPr/>
          <a:lstStyle/>
          <a:p>
            <a:r>
              <a:rPr lang="en-US" sz="5400" b="1">
                <a:ea typeface="+mj-lt"/>
                <a:cs typeface="+mj-lt"/>
              </a:rPr>
              <a:t>Visualization</a:t>
            </a:r>
            <a:endParaRPr lang="en-US" sz="5400" b="1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xmlns="" id="{50B01E7F-B65B-26C9-C2B3-4578F2BF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49" y="1563619"/>
            <a:ext cx="6429322" cy="466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the temperature distribution&#10;&#10;AI-generated content may be incorrect.">
            <a:extLst>
              <a:ext uri="{FF2B5EF4-FFF2-40B4-BE49-F238E27FC236}">
                <a16:creationId xmlns:a16="http://schemas.microsoft.com/office/drawing/2014/main" xmlns="" id="{F5A99519-94E5-0E08-4AFF-90E947F6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41" y="3436052"/>
            <a:ext cx="5753100" cy="2387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graph showing different weather conditions&#10;&#10;AI-generated content may be incorrect.">
            <a:extLst>
              <a:ext uri="{FF2B5EF4-FFF2-40B4-BE49-F238E27FC236}">
                <a16:creationId xmlns:a16="http://schemas.microsoft.com/office/drawing/2014/main" xmlns="" id="{50E1FE47-A00A-DD26-F140-67EAA58F0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78" y="494042"/>
            <a:ext cx="5753100" cy="2419350"/>
          </a:xfrm>
          <a:prstGeom prst="rect">
            <a:avLst/>
          </a:prstGeom>
        </p:spPr>
      </p:pic>
      <p:pic>
        <p:nvPicPr>
          <p:cNvPr id="8" name="Picture 7" descr="A graph showing the difference between temperature and visibility&#10;&#10;AI-generated content may be incorrect.">
            <a:extLst>
              <a:ext uri="{FF2B5EF4-FFF2-40B4-BE49-F238E27FC236}">
                <a16:creationId xmlns:a16="http://schemas.microsoft.com/office/drawing/2014/main" xmlns="" id="{79455917-47EE-2267-664D-B7E534451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987" y="1880110"/>
            <a:ext cx="57435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showing the number of accident risk by hour of day&#10;&#10;AI-generated content may be incorrect.">
            <a:extLst>
              <a:ext uri="{FF2B5EF4-FFF2-40B4-BE49-F238E27FC236}">
                <a16:creationId xmlns:a16="http://schemas.microsoft.com/office/drawing/2014/main" xmlns="" id="{25C00C16-8D35-5855-BFFB-A59C7F8D9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43" y="301159"/>
            <a:ext cx="6438341" cy="2837891"/>
          </a:xfrm>
          <a:prstGeom prst="rect">
            <a:avLst/>
          </a:prstGeom>
        </p:spPr>
      </p:pic>
      <p:pic>
        <p:nvPicPr>
          <p:cNvPr id="8" name="Picture 7" descr="A screen shot of a heatmap&#10;&#10;AI-generated content may be incorrect.">
            <a:extLst>
              <a:ext uri="{FF2B5EF4-FFF2-40B4-BE49-F238E27FC236}">
                <a16:creationId xmlns:a16="http://schemas.microsoft.com/office/drawing/2014/main" xmlns="" id="{73E0A7BC-6ECF-CD08-EFCC-4644650F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334" y="1229285"/>
            <a:ext cx="4430245" cy="3592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EF28EAE-E499-715C-89B6-BF4E6A118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985" y="3430401"/>
            <a:ext cx="4796679" cy="32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BA9573-0937-DC97-4942-08B11878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BBA6F4-1C9E-9B8F-60D9-08AE5EEDF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396" y="251764"/>
            <a:ext cx="10661471" cy="1838274"/>
          </a:xfrm>
        </p:spPr>
        <p:txBody>
          <a:bodyPr/>
          <a:lstStyle/>
          <a:p>
            <a:r>
              <a:rPr lang="en-US" b="1" dirty="0"/>
              <a:t>Conclusion &amp; Future scope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5B7752F4-FEA0-2C68-BC1E-D495137AD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79" y="2183651"/>
            <a:ext cx="8568906" cy="4431642"/>
          </a:xfrm>
          <a:prstGeom prst="rect">
            <a:avLst/>
          </a:prstGeom>
        </p:spPr>
      </p:pic>
      <p:pic>
        <p:nvPicPr>
          <p:cNvPr id="7" name="Picture 6" descr="A black square with white letter b in it&#10;&#10;AI-generated content may be incorrect.">
            <a:hlinkClick r:id="rId3"/>
            <a:extLst>
              <a:ext uri="{FF2B5EF4-FFF2-40B4-BE49-F238E27FC236}">
                <a16:creationId xmlns:a16="http://schemas.microsoft.com/office/drawing/2014/main" xmlns="" id="{D212AB7A-0CFA-EE51-B9DC-504ED4699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2477911"/>
            <a:ext cx="2438400" cy="243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0412" y="511951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Hyperlink(logo)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93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roactive_Road_Execution">
            <a:hlinkClick r:id="" action="ppaction://media"/>
            <a:extLst>
              <a:ext uri="{FF2B5EF4-FFF2-40B4-BE49-F238E27FC236}">
                <a16:creationId xmlns:a16="http://schemas.microsoft.com/office/drawing/2014/main" xmlns="" id="{E9879E82-E2B3-C09C-AB7F-9C7DFC767A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0758" y="1118348"/>
            <a:ext cx="9921688" cy="52600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A33CACC-9B24-DAAB-0DB6-B1D7DE4DB03F}"/>
              </a:ext>
            </a:extLst>
          </p:cNvPr>
          <p:cNvSpPr txBox="1"/>
          <p:nvPr/>
        </p:nvSpPr>
        <p:spPr>
          <a:xfrm>
            <a:off x="380226" y="361371"/>
            <a:ext cx="906331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cs typeface="Poppins Light"/>
              </a:rPr>
              <a:t>Visual representation of code and execution</a:t>
            </a:r>
          </a:p>
        </p:txBody>
      </p:sp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4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341" y="2438870"/>
            <a:ext cx="7387820" cy="165144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/>
              <a:t>Thank you !!!!!</a:t>
            </a:r>
          </a:p>
        </p:txBody>
      </p:sp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xmlns="" id="{A78D513C-F897-75B4-6EE2-AEA937082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391" b="1333"/>
          <a:stretch>
            <a:fillRect/>
          </a:stretch>
        </p:blipFill>
        <p:spPr>
          <a:xfrm>
            <a:off x="4613066" y="5157249"/>
            <a:ext cx="811047" cy="105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</Words>
  <Application>Microsoft Office PowerPoint</Application>
  <PresentationFormat>Widescreen</PresentationFormat>
  <Paragraphs>15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Lora</vt:lpstr>
      <vt:lpstr>Playfair Display Black</vt:lpstr>
      <vt:lpstr>Poppins Light</vt:lpstr>
      <vt:lpstr>Gradient Circle</vt:lpstr>
      <vt:lpstr>Proactive Road Modeling</vt:lpstr>
      <vt:lpstr>Model Evaluation</vt:lpstr>
      <vt:lpstr>Comparison with baseline model </vt:lpstr>
      <vt:lpstr>PowerPoint Presentation</vt:lpstr>
      <vt:lpstr>PowerPoint Presentation</vt:lpstr>
      <vt:lpstr>PowerPoint Presentation</vt:lpstr>
      <vt:lpstr>PowerPoint Presentation</vt:lpstr>
      <vt:lpstr>Conclusion &amp; Future scope</vt:lpstr>
      <vt:lpstr>PowerPoint Presentation</vt:lpstr>
      <vt:lpstr>Thank you !!!!!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Road Modeling</dc:title>
  <dc:creator/>
  <cp:lastModifiedBy>hp</cp:lastModifiedBy>
  <cp:revision>75</cp:revision>
  <dcterms:created xsi:type="dcterms:W3CDTF">2026-02-07T20:30:42Z</dcterms:created>
  <dcterms:modified xsi:type="dcterms:W3CDTF">2026-02-07T21:10:59Z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