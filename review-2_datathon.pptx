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8"/>
  </p:notesMasterIdLst>
  <p:handoutMasterIdLst>
    <p:handoutMasterId r:id="rId19"/>
  </p:handoutMasterIdLst>
  <p:sldIdLst>
    <p:sldId id="312" r:id="rId5"/>
    <p:sldId id="307" r:id="rId6"/>
    <p:sldId id="282" r:id="rId7"/>
    <p:sldId id="314" r:id="rId8"/>
    <p:sldId id="315" r:id="rId9"/>
    <p:sldId id="317" r:id="rId10"/>
    <p:sldId id="319" r:id="rId11"/>
    <p:sldId id="318" r:id="rId12"/>
    <p:sldId id="304" r:id="rId13"/>
    <p:sldId id="281" r:id="rId14"/>
    <p:sldId id="322" r:id="rId15"/>
    <p:sldId id="323" r:id="rId16"/>
    <p:sldId id="297" r:id="rId17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388" autoAdjust="0"/>
  </p:normalViewPr>
  <p:slideViewPr>
    <p:cSldViewPr snapToGrid="0" snapToObjects="1">
      <p:cViewPr varScale="1">
        <p:scale>
          <a:sx n="75" d="100"/>
          <a:sy n="75" d="100"/>
        </p:scale>
        <p:origin x="540" y="78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=""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146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1387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5417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88148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76212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5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="" xmlns:a16="http://schemas.microsoft.com/office/drawing/2014/main" id="{BA5D5A72-CB6F-F8DE-E2C9-90459C8C3DC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="" xmlns:a16="http://schemas.microsoft.com/office/drawing/2014/main" id="{E66FD7FF-2869-7902-36B2-2B229AB9AB1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="" xmlns:a16="http://schemas.microsoft.com/office/drawing/2014/main" id="{B1457C88-4472-81CF-02AF-4421E0A3084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="" xmlns:a16="http://schemas.microsoft.com/office/drawing/2014/main" id="{75923D9E-9381-3D11-B31A-1BF5C97F35B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=""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=""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="" xmlns:a16="http://schemas.microsoft.com/office/drawing/2014/main" id="{0F297964-0B81-31DC-6D6D-1414832238B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=""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=""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="" xmlns:a16="http://schemas.microsoft.com/office/drawing/2014/main" id="{EFFAEAD9-58A9-096B-C6D0-58F7AD08EB2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=""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7537D12D-0FCA-3396-988D-452D3D526E3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11710CE8-8A83-C0D3-623E-AFCC6C6A293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="" xmlns:a16="http://schemas.microsoft.com/office/drawing/2014/main" id="{7AA66C80-37C3-6D28-7564-733A30B2CD8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="" xmlns:a16="http://schemas.microsoft.com/office/drawing/2014/main" id="{D9DB7C23-E0CF-A75F-BFFD-4E7679AF4AD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="" xmlns:a16="http://schemas.microsoft.com/office/drawing/2014/main" id="{4D62A0CC-A0CE-403A-A167-27225B2C6083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="" xmlns:a16="http://schemas.microsoft.com/office/drawing/2014/main" id="{F8AD83DA-A293-6D56-F606-7C98C403A3F7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=""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="" xmlns:a16="http://schemas.microsoft.com/office/drawing/2014/main" id="{86F8B46B-EF6E-BC12-09E2-0F3B779197B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5D7B4F11-E150-473B-98F5-6E6AC964686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="" xmlns:a16="http://schemas.microsoft.com/office/drawing/2014/main" id="{A8E2FA61-C047-21BB-AA50-F84AD768549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="" xmlns:a16="http://schemas.microsoft.com/office/drawing/2014/main" id="{1A2791BA-760E-9FA5-8743-D0B699FC983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=""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=""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=""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="" xmlns:a16="http://schemas.microsoft.com/office/drawing/2014/main" id="{2A3EC91E-4089-D366-06D3-3E66F93DFAF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="" xmlns:a16="http://schemas.microsoft.com/office/drawing/2014/main" id="{70F595E1-C910-3710-90E9-AF5FFCE0586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="" xmlns:a16="http://schemas.microsoft.com/office/drawing/2014/main" id="{AA39EF58-54F1-4AC9-1D83-2E7DEEAAEA6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="" xmlns:a16="http://schemas.microsoft.com/office/drawing/2014/main" id="{0C320934-59CC-4123-C7C1-FEEE89F3045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="" xmlns:a16="http://schemas.microsoft.com/office/drawing/2014/main" id="{EC46DC71-C12A-96C8-3FE2-AA95AB58B34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=""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=""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=""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="" xmlns:a16="http://schemas.microsoft.com/office/drawing/2014/main" id="{CD2D664E-6702-6607-A37E-2E996144917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="" xmlns:a16="http://schemas.microsoft.com/office/drawing/2014/main" id="{951C5737-DF7E-D671-AC74-9E488335BCA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="" xmlns:a16="http://schemas.microsoft.com/office/drawing/2014/main" id="{F232A1E1-DD38-15EA-6CA1-A84950EC43F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="" xmlns:a16="http://schemas.microsoft.com/office/drawing/2014/main" id="{B9036D42-A06F-E6EE-BB91-8BAF045198B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="" xmlns:a16="http://schemas.microsoft.com/office/drawing/2014/main" id="{86E0540C-3355-A50D-AC61-047B54B70C6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=""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=""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="" xmlns:a16="http://schemas.microsoft.com/office/drawing/2014/main" id="{3C7B0BB3-A5CA-7C72-DC39-AD00EC90964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="" xmlns:a16="http://schemas.microsoft.com/office/drawing/2014/main" id="{07871527-68A5-0A5C-F5A6-A80523BAC92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="" xmlns:a16="http://schemas.microsoft.com/office/drawing/2014/main" id="{CEB118B3-9B06-AD11-738A-7A0651F98B7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="" xmlns:a16="http://schemas.microsoft.com/office/drawing/2014/main" id="{0EA94262-504E-06F2-F383-E832C37B125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=""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=""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=""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=""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="" xmlns:a16="http://schemas.microsoft.com/office/drawing/2014/main" id="{376CF4B8-1811-BD21-43A7-560AC4724F3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="" xmlns:a16="http://schemas.microsoft.com/office/drawing/2014/main" id="{30B7B4F0-D3BC-63DF-6429-F771BE5A327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=""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=""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="" xmlns:a16="http://schemas.microsoft.com/office/drawing/2014/main" id="{B9152F76-E42E-3D76-6BDB-2FA0D69216A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="" xmlns:a16="http://schemas.microsoft.com/office/drawing/2014/main" id="{ED0348C7-D83F-0AD7-2539-41219A795693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="" xmlns:a16="http://schemas.microsoft.com/office/drawing/2014/main" id="{E911AA2D-BE77-278D-CD2E-2EB3E180F3B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="" xmlns:a16="http://schemas.microsoft.com/office/drawing/2014/main" id="{B6CE0BA6-C0FD-AC39-6C31-8477E0CAFDB0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="" xmlns:a16="http://schemas.microsoft.com/office/drawing/2014/main" id="{666AD1A4-36DE-12F3-BB78-BA678A59572C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=""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="" xmlns:a16="http://schemas.microsoft.com/office/drawing/2014/main" id="{28259CF0-6BC5-3693-6F49-C4489C07C31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="" xmlns:a16="http://schemas.microsoft.com/office/drawing/2014/main" id="{9019DA73-2516-F3D2-ECDB-620C90483DB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="" xmlns:a16="http://schemas.microsoft.com/office/drawing/2014/main" id="{5665DA82-D253-8EC5-5DFB-F0266ED9FBB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="" xmlns:a16="http://schemas.microsoft.com/office/drawing/2014/main" id="{A8B7F1F1-806C-8D65-7340-220A0C4653C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="" xmlns:a16="http://schemas.microsoft.com/office/drawing/2014/main" id="{E76518D4-6149-BA03-3BE5-6A13A792C11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=""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=""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=""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="" xmlns:a16="http://schemas.microsoft.com/office/drawing/2014/main" id="{D014917C-8694-B4A4-A211-0F31F00E247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="" xmlns:a16="http://schemas.microsoft.com/office/drawing/2014/main" id="{A7DB6972-BB75-254A-BA88-C0C3E6E93BD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="" xmlns:a16="http://schemas.microsoft.com/office/drawing/2014/main" id="{790E862E-398F-571C-EC2C-3D17164DE05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=""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=""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=""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=""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="" xmlns:a16="http://schemas.microsoft.com/office/drawing/2014/main" id="{D5595DD5-43B0-252F-8BC6-6B74340C5BC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="" xmlns:a16="http://schemas.microsoft.com/office/drawing/2014/main" id="{BC3A3767-6C5E-8188-0A49-955BBACE37F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=""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=""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=""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="" xmlns:a16="http://schemas.microsoft.com/office/drawing/2014/main" id="{C6639AD7-128F-B39D-B45F-0F22A2C6D68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="" xmlns:a16="http://schemas.microsoft.com/office/drawing/2014/main" id="{48479A23-C29C-C711-510C-05B69B88226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="" xmlns:a16="http://schemas.microsoft.com/office/drawing/2014/main" id="{F3DC42FA-4B8F-2EFC-CAB4-1CCAB93BEB7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="" xmlns:a16="http://schemas.microsoft.com/office/drawing/2014/main" id="{376CF4B8-1811-BD21-43A7-560AC4724F3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="" xmlns:a16="http://schemas.microsoft.com/office/drawing/2014/main" id="{30B7B4F0-D3BC-63DF-6429-F771BE5A327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=""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=""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="" xmlns:a16="http://schemas.microsoft.com/office/drawing/2014/main" id="{AEF1F750-031C-BDB7-BD7B-9CBE17406FD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="" xmlns:a16="http://schemas.microsoft.com/office/drawing/2014/main" id="{FEB515B5-2D9F-58E1-6E3C-CCBF105D891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="" xmlns:a16="http://schemas.microsoft.com/office/drawing/2014/main" id="{5CCFEDF9-5B69-87BA-8A33-35033DA4013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=""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="" xmlns:a16="http://schemas.microsoft.com/office/drawing/2014/main" id="{2C6B5F91-ABF5-D0B6-E43F-40CEDC3A6DF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="" xmlns:a16="http://schemas.microsoft.com/office/drawing/2014/main" id="{A52D64F1-27B6-A1E5-4F44-A6029FAB307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="" xmlns:a16="http://schemas.microsoft.com/office/drawing/2014/main" id="{A626DE4B-D4E5-B36A-89FA-7C0E87AFC31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="" xmlns:a16="http://schemas.microsoft.com/office/drawing/2014/main" id="{95243571-BE64-3777-F992-88FC43A6053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="" xmlns:a16="http://schemas.microsoft.com/office/drawing/2014/main" id="{ADFAE2CB-0EAD-E788-FCB7-FB12F693919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="" xmlns:a16="http://schemas.microsoft.com/office/drawing/2014/main" id="{CAA6B609-D718-DB49-892F-7E49376CC91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/>
          <a:lstStyle/>
          <a:p>
            <a:r>
              <a:rPr lang="en-US" dirty="0"/>
              <a:t>Proactive road</a:t>
            </a:r>
            <a:br>
              <a:rPr lang="en-US" dirty="0"/>
            </a:br>
            <a:r>
              <a:rPr lang="en-US" dirty="0"/>
              <a:t>monitoring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sz="2400" dirty="0"/>
              <a:t>-team 13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8240" y="1099723"/>
            <a:ext cx="8686659" cy="4739104"/>
          </a:xfrm>
        </p:spPr>
        <p:txBody>
          <a:bodyPr/>
          <a:lstStyle/>
          <a:p>
            <a:r>
              <a:rPr lang="en-US" dirty="0"/>
              <a:t/>
            </a:r>
            <a:br>
              <a:rPr lang="en-US" dirty="0"/>
            </a:br>
            <a:r>
              <a:rPr lang="en-IN" dirty="0"/>
              <a:t>Review-2:</a:t>
            </a:r>
            <a:br>
              <a:rPr lang="en-IN" dirty="0"/>
            </a:br>
            <a:r>
              <a:rPr lang="en-IN" dirty="0"/>
              <a:t/>
            </a:r>
            <a:br>
              <a:rPr lang="en-IN" dirty="0"/>
            </a:br>
            <a:r>
              <a:rPr lang="en-IN" dirty="0"/>
              <a:t>Mathematical Foundation &amp; Implementation</a:t>
            </a:r>
            <a:br>
              <a:rPr lang="en-IN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1057274"/>
            <a:ext cx="7965461" cy="994164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dirty="0"/>
              <a:t>MATHEMATICAL DERIVATION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="" xmlns:a16="http://schemas.microsoft.com/office/drawing/2014/main" id="{75111C33-898C-4414-4665-5136EB6FC126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3460565" y="2303029"/>
                <a:ext cx="7965460" cy="3497698"/>
              </a:xfrm>
            </p:spPr>
            <p:txBody>
              <a:bodyPr/>
              <a:lstStyle/>
              <a:p>
                <a:r>
                  <a:rPr lang="en-IN" dirty="0" smtClean="0">
                    <a:solidFill>
                      <a:schemeClr val="tx1"/>
                    </a:solidFill>
                  </a:rPr>
                  <a:t>Random Forest consists of multiple Decision Trees.</a:t>
                </a:r>
              </a:p>
              <a:p>
                <a:r>
                  <a:rPr lang="en-IN" b="1" dirty="0">
                    <a:solidFill>
                      <a:schemeClr val="tx1"/>
                    </a:solidFill>
                  </a:rPr>
                  <a:t>Split Criterion: Gini Impurity</a:t>
                </a:r>
                <a:endParaRPr lang="en-IN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IN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𝐺𝑖𝑛𝑖</m:t>
                    </m:r>
                    <m:d>
                      <m:dPr>
                        <m:ctrlPr>
                          <a:rPr lang="ar-A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ar-AE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grow m:val="on"/>
                        <m:subHide m:val="on"/>
                        <m:supHide m:val="on"/>
                        <m:ctrlPr>
                          <a:rPr lang="ar-A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Sup>
                          <m:sSubSupPr>
                            <m:ctrlPr>
                              <a:rPr lang="ar-AE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ar-AE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ar-AE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nary>
                  </m:oMath>
                </a14:m>
                <a:endParaRPr lang="ar-AE" dirty="0">
                  <a:solidFill>
                    <a:schemeClr val="tx1"/>
                  </a:solidFill>
                </a:endParaRPr>
              </a:p>
              <a:p>
                <a:r>
                  <a:rPr lang="en-IN" dirty="0">
                    <a:solidFill>
                      <a:schemeClr val="tx1"/>
                    </a:solidFill>
                  </a:rPr>
                  <a:t>Where: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ar-A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dirty="0">
                    <a:solidFill>
                      <a:schemeClr val="tx1"/>
                    </a:solidFill>
                  </a:rPr>
                  <a:t>= </a:t>
                </a:r>
                <a:r>
                  <a:rPr lang="en-IN" dirty="0">
                    <a:solidFill>
                      <a:schemeClr val="tx1"/>
                    </a:solidFill>
                  </a:rPr>
                  <a:t>probability of class at node</a:t>
                </a:r>
              </a:p>
              <a:p>
                <a:r>
                  <a:rPr lang="en-IN" dirty="0">
                    <a:solidFill>
                      <a:schemeClr val="tx1"/>
                    </a:solidFill>
                  </a:rPr>
                  <a:t>Lower Gini → purer node</a:t>
                </a:r>
              </a:p>
              <a:p>
                <a:r>
                  <a:rPr lang="en-IN" dirty="0">
                    <a:solidFill>
                      <a:schemeClr val="tx1"/>
                    </a:solidFill>
                  </a:rPr>
                  <a:t>Best split = </a:t>
                </a:r>
                <a:r>
                  <a:rPr lang="en-IN" b="1" dirty="0">
                    <a:solidFill>
                      <a:schemeClr val="tx1"/>
                    </a:solidFill>
                  </a:rPr>
                  <a:t>maximum Information Gain</a:t>
                </a:r>
                <a:endParaRPr lang="en-IN" dirty="0">
                  <a:solidFill>
                    <a:schemeClr val="tx1"/>
                  </a:solidFill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75111C33-898C-4414-4665-5136EB6FC1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3460565" y="2303029"/>
                <a:ext cx="7965460" cy="3497698"/>
              </a:xfrm>
              <a:blipFill rotWithShape="0">
                <a:blip r:embed="rId3"/>
                <a:stretch>
                  <a:fillRect l="-536" t="-22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Slide Number Placeholder 22">
            <a:extLst>
              <a:ext uri="{FF2B5EF4-FFF2-40B4-BE49-F238E27FC236}">
                <a16:creationId xmlns=""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4388" y="660859"/>
            <a:ext cx="7043617" cy="1251386"/>
          </a:xfrm>
        </p:spPr>
        <p:txBody>
          <a:bodyPr/>
          <a:lstStyle/>
          <a:p>
            <a:r>
              <a:rPr lang="en-US" dirty="0"/>
              <a:t>Information gain &amp; objective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="" xmlns:a16="http://schemas.microsoft.com/office/drawing/2014/main" id="{BDDD6BDC-E008-6AB7-55A1-46ED9BCF054F}"/>
                  </a:ext>
                </a:extLst>
              </p:cNvPr>
              <p:cNvSpPr>
                <a:spLocks noGrp="1"/>
              </p:cNvSpPr>
              <p:nvPr>
                <p:ph idx="11"/>
              </p:nvPr>
            </p:nvSpPr>
            <p:spPr>
              <a:xfrm>
                <a:off x="4364808" y="2245896"/>
                <a:ext cx="7043618" cy="3796088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en-IN" b="1" dirty="0" smtClean="0">
                    <a:solidFill>
                      <a:schemeClr val="tx1"/>
                    </a:solidFill>
                  </a:rPr>
                  <a:t>Information Gain</a:t>
                </a:r>
                <a:endParaRPr lang="en-IN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𝐼𝐺</m:t>
                      </m:r>
                      <m:r>
                        <a:rPr lang="en-IN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𝐺𝑖𝑛𝑖</m:t>
                      </m:r>
                      <m:d>
                        <m:dPr>
                          <m:ctrlPr>
                            <a:rPr lang="ar-A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𝑝𝑎𝑟𝑒𝑛𝑡</m:t>
                          </m:r>
                        </m:e>
                      </m:d>
                      <m:r>
                        <a:rPr lang="ar-AE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ar-AE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𝑊𝑒𝑖𝑔</m:t>
                      </m:r>
                      <m:r>
                        <a:rPr lang="ar-AE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ar-AE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𝑡𝑒𝑑</m:t>
                      </m:r>
                      <m:r>
                        <m:rPr>
                          <m:nor/>
                        </m:rPr>
                        <a:rPr lang="ar-AE" i="1">
                          <a:solidFill>
                            <a:schemeClr val="tx1"/>
                          </a:solidFill>
                        </a:rPr>
                        <m:t> </m:t>
                      </m:r>
                      <m:r>
                        <a:rPr lang="ar-AE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𝐺𝑖𝑛𝑖</m:t>
                      </m:r>
                      <m:d>
                        <m:dPr>
                          <m:ctrlPr>
                            <a:rPr lang="ar-A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ar-A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ar-A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𝑖𝑙𝑑𝑟𝑒𝑛</m:t>
                          </m:r>
                        </m:e>
                      </m:d>
                    </m:oMath>
                  </m:oMathPara>
                </a14:m>
                <a:endParaRPr lang="en-IN" b="0" dirty="0">
                  <a:solidFill>
                    <a:schemeClr val="tx1"/>
                  </a:solidFill>
                </a:endParaRPr>
              </a:p>
              <a:p>
                <a:endParaRPr lang="ar-AE" b="0" dirty="0">
                  <a:solidFill>
                    <a:schemeClr val="tx1"/>
                  </a:solidFill>
                </a:endParaRPr>
              </a:p>
              <a:p>
                <a:r>
                  <a:rPr lang="en-IN" dirty="0">
                    <a:solidFill>
                      <a:schemeClr val="tx1"/>
                    </a:solidFill>
                  </a:rPr>
                  <a:t>Tree stops when:</a:t>
                </a:r>
              </a:p>
              <a:p>
                <a:r>
                  <a:rPr lang="en-IN" dirty="0">
                    <a:solidFill>
                      <a:schemeClr val="tx1"/>
                    </a:solidFill>
                  </a:rPr>
                  <a:t>Maximum depth reached</a:t>
                </a:r>
              </a:p>
              <a:p>
                <a:r>
                  <a:rPr lang="en-IN" dirty="0">
                    <a:solidFill>
                      <a:schemeClr val="tx1"/>
                    </a:solidFill>
                  </a:rPr>
                  <a:t>Minimum samples reached</a:t>
                </a:r>
              </a:p>
              <a:p>
                <a:r>
                  <a:rPr lang="en-IN" dirty="0">
                    <a:solidFill>
                      <a:schemeClr val="tx1"/>
                    </a:solidFill>
                  </a:rPr>
                  <a:t>No impurity reduction</a:t>
                </a:r>
              </a:p>
              <a:p>
                <a:endParaRPr lang="en-IN" dirty="0">
                  <a:solidFill>
                    <a:schemeClr val="tx1"/>
                  </a:solidFill>
                </a:endParaRPr>
              </a:p>
              <a:p>
                <a:r>
                  <a:rPr lang="en-IN" b="1" dirty="0">
                    <a:solidFill>
                      <a:schemeClr val="tx1"/>
                    </a:solidFill>
                  </a:rPr>
                  <a:t>Tree Objective</a:t>
                </a:r>
                <a:endParaRPr lang="en-IN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𝐿𝑜𝑠𝑠</m:t>
                      </m:r>
                      <m:r>
                        <a:rPr lang="en-IN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grow m:val="on"/>
                          <m:subHide m:val="on"/>
                          <m:supHide m:val="on"/>
                          <m:ctrlPr>
                            <a:rPr lang="ar-A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ar-A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</m:nary>
                      <m:r>
                        <a:rPr lang="ar-AE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𝑖𝑛𝑖</m:t>
                      </m:r>
                      <m:d>
                        <m:dPr>
                          <m:ctrlPr>
                            <a:rPr lang="ar-A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𝑙𝑒𝑎𝑓</m:t>
                          </m:r>
                        </m:e>
                      </m:d>
                    </m:oMath>
                  </m:oMathPara>
                </a14:m>
                <a:endParaRPr lang="ar-AE" dirty="0">
                  <a:solidFill>
                    <a:schemeClr val="tx1"/>
                  </a:solidFill>
                </a:endParaRPr>
              </a:p>
              <a:p>
                <a:r>
                  <a:rPr lang="en-IN" dirty="0">
                    <a:solidFill>
                      <a:schemeClr val="tx1"/>
                    </a:solidFill>
                  </a:rPr>
                  <a:t>Goal: Minimize impurity across all leaves.</a:t>
                </a:r>
              </a:p>
              <a:p>
                <a:endParaRPr lang="en-IN" dirty="0">
                  <a:solidFill>
                    <a:schemeClr val="tx1"/>
                  </a:solidFill>
                </a:endParaRPr>
              </a:p>
              <a:p>
                <a:r>
                  <a:rPr lang="en-IN" b="1" dirty="0">
                    <a:solidFill>
                      <a:schemeClr val="tx1"/>
                    </a:solidFill>
                  </a:rPr>
                  <a:t>Final Prediction</a:t>
                </a:r>
                <a:endParaRPr lang="en-IN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𝐹𝑖𝑛𝑎𝑙</m:t>
                      </m:r>
                      <m:r>
                        <a:rPr lang="en-IN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𝑀𝑜𝑑𝑒</m:t>
                      </m:r>
                      <m:d>
                        <m:dPr>
                          <m:begChr m:val="{"/>
                          <m:endChr m:val="}"/>
                          <m:sepChr m:val=","/>
                          <m:ctrlPr>
                            <a:rPr lang="ar-A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ar-AE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e>
                          <m:d>
                            <m:dPr>
                              <m:ctrlPr>
                                <a:rPr lang="ar-AE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  <m:e>
                          <m:sSub>
                            <m:sSubPr>
                              <m:ctrlPr>
                                <a:rPr lang="ar-AE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ar-AE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e>
                          <m:d>
                            <m:dPr>
                              <m:ctrlPr>
                                <a:rPr lang="ar-AE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ar-AE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...</m:t>
                          </m:r>
                          <m:sSub>
                            <m:sSubPr>
                              <m:ctrlPr>
                                <a:rPr lang="ar-AE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ar-AE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d>
                            <m:dPr>
                              <m:ctrlPr>
                                <a:rPr lang="ar-AE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BDDD6BDC-E008-6AB7-55A1-46ED9BCF05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1"/>
              </p:nvPr>
            </p:nvSpPr>
            <p:spPr>
              <a:xfrm>
                <a:off x="4364808" y="2245896"/>
                <a:ext cx="7043618" cy="3796088"/>
              </a:xfrm>
              <a:blipFill rotWithShape="0">
                <a:blip r:embed="rId3"/>
                <a:stretch>
                  <a:fillRect l="-519" t="-305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834635"/>
            <a:ext cx="7796464" cy="1222385"/>
          </a:xfrm>
        </p:spPr>
        <p:txBody>
          <a:bodyPr/>
          <a:lstStyle/>
          <a:p>
            <a:r>
              <a:rPr lang="en-IN" dirty="0"/>
              <a:t>Random Forest Mathematics (Bagging)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6" name="Content Placeholder 4">
            <a:extLst>
              <a:ext uri="{FF2B5EF4-FFF2-40B4-BE49-F238E27FC236}">
                <a16:creationId xmlns="" xmlns:a16="http://schemas.microsoft.com/office/drawing/2014/main" id="{AEF9954A-E263-8A7E-58B1-4D03F7D1BD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4400" y="2303028"/>
            <a:ext cx="6866021" cy="3720337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tx1"/>
                </a:solidFill>
              </a:rPr>
              <a:t>Random Forest uses </a:t>
            </a:r>
            <a:r>
              <a:rPr lang="en-IN" b="1" dirty="0">
                <a:solidFill>
                  <a:schemeClr val="tx1"/>
                </a:solidFill>
              </a:rPr>
              <a:t>Bootstrap Aggregation</a:t>
            </a:r>
            <a:endParaRPr lang="en-IN" dirty="0">
              <a:solidFill>
                <a:schemeClr val="tx1"/>
              </a:solidFill>
            </a:endParaRPr>
          </a:p>
          <a:p>
            <a:r>
              <a:rPr lang="en-IN" dirty="0">
                <a:solidFill>
                  <a:schemeClr val="tx1"/>
                </a:solidFill>
              </a:rPr>
              <a:t>Steps:</a:t>
            </a:r>
          </a:p>
          <a:p>
            <a:r>
              <a:rPr lang="en-IN" dirty="0">
                <a:solidFill>
                  <a:schemeClr val="tx1"/>
                </a:solidFill>
              </a:rPr>
              <a:t>Create multiple bootstrap samples from the dataset.</a:t>
            </a:r>
          </a:p>
          <a:p>
            <a:r>
              <a:rPr lang="en-US" dirty="0">
                <a:solidFill>
                  <a:schemeClr val="tx1"/>
                </a:solidFill>
              </a:rPr>
              <a:t>For each bootstrap sample</a:t>
            </a:r>
          </a:p>
          <a:p>
            <a:r>
              <a:rPr lang="en-US" dirty="0">
                <a:solidFill>
                  <a:schemeClr val="tx1"/>
                </a:solidFill>
              </a:rPr>
              <a:t> •Train one Decision Tree</a:t>
            </a:r>
          </a:p>
          <a:p>
            <a:r>
              <a:rPr lang="en-US" dirty="0">
                <a:solidFill>
                  <a:schemeClr val="tx1"/>
                </a:solidFill>
              </a:rPr>
              <a:t> •Use Gini Impurity to: Combine predictions of all trees</a:t>
            </a:r>
          </a:p>
          <a:p>
            <a:endParaRPr lang="ar-AE" dirty="0">
              <a:solidFill>
                <a:schemeClr val="tx1"/>
              </a:solidFill>
            </a:endParaRPr>
          </a:p>
          <a:p>
            <a:r>
              <a:rPr lang="en-IN" dirty="0">
                <a:solidFill>
                  <a:schemeClr val="tx1"/>
                </a:solidFill>
              </a:rPr>
              <a:t>Majority voting reduces variance and improves accuracy.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="" xmlns:a16="http://schemas.microsoft.com/office/drawing/2014/main" id="{3D55F2D4-C20E-BEBC-1CCF-4449B0456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65393"/>
            <a:ext cx="7631709" cy="1091627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IN" dirty="0"/>
              <a:t>Training Workflow (Data Flow)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C82CE1B8-1C92-D6D2-444B-652DB90E86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620B4B66-6555-D92A-FE9B-0CA74364A6A3}"/>
              </a:ext>
            </a:extLst>
          </p:cNvPr>
          <p:cNvSpPr txBox="1"/>
          <p:nvPr/>
        </p:nvSpPr>
        <p:spPr>
          <a:xfrm>
            <a:off x="1981200" y="2420540"/>
            <a:ext cx="611204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Training pipeline: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Input Dataset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/>
              <a:t>Bootstrap </a:t>
            </a:r>
            <a:r>
              <a:rPr lang="en-IN" dirty="0" smtClean="0"/>
              <a:t>Sampling(Bagging)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 smtClean="0"/>
              <a:t> Feature Randomness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 smtClean="0"/>
              <a:t>Tree Learning Process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 smtClean="0"/>
              <a:t>Prediction(Inference)</a:t>
            </a:r>
            <a:endParaRPr lang="en-IN" dirty="0"/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This creates a </a:t>
            </a:r>
            <a:r>
              <a:rPr lang="en-IN" dirty="0" smtClean="0"/>
              <a:t>ensemble of trees </a:t>
            </a:r>
            <a:r>
              <a:rPr lang="en-IN" dirty="0"/>
              <a:t>and generalized model.</a:t>
            </a:r>
          </a:p>
        </p:txBody>
      </p:sp>
    </p:spTree>
    <p:extLst>
      <p:ext uri="{BB962C8B-B14F-4D97-AF65-F5344CB8AC3E}">
        <p14:creationId xmlns:p14="http://schemas.microsoft.com/office/powerpoint/2010/main" val="1941619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="" xmlns:a16="http://schemas.microsoft.com/office/drawing/2014/main" id="{2136FCF6-982C-CC37-9625-3EBFC7E7D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6236" y="281030"/>
            <a:ext cx="9879437" cy="622257"/>
          </a:xfrm>
        </p:spPr>
        <p:txBody>
          <a:bodyPr/>
          <a:lstStyle/>
          <a:p>
            <a:r>
              <a:rPr lang="en-IN" dirty="0" smtClean="0"/>
              <a:t>         Tree </a:t>
            </a:r>
            <a:r>
              <a:rPr lang="en-IN" dirty="0"/>
              <a:t>Learning Process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3175" y="1104857"/>
            <a:ext cx="9068525" cy="5581707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A913EEC9-16E3-6C86-97D0-A7EC7EA09C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9996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AB69D854-FB65-0E93-CFE2-041F7C41DD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Title 2">
            <a:extLst>
              <a:ext uri="{FF2B5EF4-FFF2-40B4-BE49-F238E27FC236}">
                <a16:creationId xmlns="" xmlns:a16="http://schemas.microsoft.com/office/drawing/2014/main" id="{C5A6144A-61A6-AD1E-4012-471B13B821BE}"/>
              </a:ext>
            </a:extLst>
          </p:cNvPr>
          <p:cNvSpPr txBox="1">
            <a:spLocks/>
          </p:cNvSpPr>
          <p:nvPr/>
        </p:nvSpPr>
        <p:spPr>
          <a:xfrm>
            <a:off x="914399" y="4281554"/>
            <a:ext cx="7843837" cy="1012782"/>
          </a:xfrm>
          <a:prstGeom prst="rect">
            <a:avLst/>
          </a:prstGeom>
        </p:spPr>
        <p:txBody>
          <a:bodyPr vert="horz" lIns="91440" tIns="0" rIns="9144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1600" y="591343"/>
            <a:ext cx="5652179" cy="55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101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313027"/>
            <a:ext cx="12039600" cy="759831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dirty="0" smtClean="0"/>
              <a:t>PYTHON IMPLEMENTATION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200" y="1229730"/>
            <a:ext cx="9906000" cy="5181600"/>
          </a:xfrm>
        </p:spPr>
        <p:txBody>
          <a:bodyPr>
            <a:normAutofit fontScale="62500" lnSpcReduction="20000"/>
          </a:bodyPr>
          <a:lstStyle/>
          <a:p>
            <a:r>
              <a:rPr lang="en-IN" sz="3400" b="1" u="sng" dirty="0">
                <a:solidFill>
                  <a:schemeClr val="tx1"/>
                </a:solidFill>
              </a:rPr>
              <a:t>Libraries Used</a:t>
            </a:r>
            <a:endParaRPr lang="en-IN" sz="3400" u="sng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3400" b="1" dirty="0">
                <a:solidFill>
                  <a:schemeClr val="tx1"/>
                </a:solidFill>
              </a:rPr>
              <a:t>NumPy</a:t>
            </a:r>
            <a:r>
              <a:rPr lang="en-IN" sz="3400" dirty="0">
                <a:solidFill>
                  <a:schemeClr val="tx1"/>
                </a:solidFill>
              </a:rPr>
              <a:t> – numerical computations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3400" b="1" dirty="0">
                <a:solidFill>
                  <a:schemeClr val="tx1"/>
                </a:solidFill>
              </a:rPr>
              <a:t>Pandas</a:t>
            </a:r>
            <a:r>
              <a:rPr lang="en-IN" sz="3400" dirty="0">
                <a:solidFill>
                  <a:schemeClr val="tx1"/>
                </a:solidFill>
              </a:rPr>
              <a:t> – data loading &amp; manipulation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3400" b="1" dirty="0">
                <a:solidFill>
                  <a:schemeClr val="tx1"/>
                </a:solidFill>
              </a:rPr>
              <a:t>Scikit-learn</a:t>
            </a:r>
            <a:r>
              <a:rPr lang="en-IN" sz="3400" dirty="0">
                <a:solidFill>
                  <a:schemeClr val="tx1"/>
                </a:solidFill>
              </a:rPr>
              <a:t> – </a:t>
            </a:r>
            <a:r>
              <a:rPr lang="en-IN" sz="3400" dirty="0" smtClean="0">
                <a:solidFill>
                  <a:schemeClr val="tx1"/>
                </a:solidFill>
              </a:rPr>
              <a:t>pre-processing </a:t>
            </a:r>
            <a:r>
              <a:rPr lang="en-IN" sz="3400" dirty="0">
                <a:solidFill>
                  <a:schemeClr val="tx1"/>
                </a:solidFill>
              </a:rPr>
              <a:t>&amp; model training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3400" b="1" dirty="0">
                <a:solidFill>
                  <a:schemeClr val="tx1"/>
                </a:solidFill>
              </a:rPr>
              <a:t>Matplotlib &amp; Seaborn</a:t>
            </a:r>
            <a:r>
              <a:rPr lang="en-IN" sz="3400" dirty="0">
                <a:solidFill>
                  <a:schemeClr val="tx1"/>
                </a:solidFill>
              </a:rPr>
              <a:t> – data </a:t>
            </a:r>
            <a:r>
              <a:rPr lang="en-IN" sz="3400" dirty="0" smtClean="0">
                <a:solidFill>
                  <a:schemeClr val="tx1"/>
                </a:solidFill>
              </a:rPr>
              <a:t>visualization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3400" dirty="0">
              <a:solidFill>
                <a:schemeClr val="tx1"/>
              </a:solidFill>
            </a:endParaRPr>
          </a:p>
          <a:p>
            <a:r>
              <a:rPr lang="en-IN" sz="3400" b="1" u="sng" dirty="0">
                <a:solidFill>
                  <a:schemeClr val="tx1"/>
                </a:solidFill>
              </a:rPr>
              <a:t>Data Preparation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3400" dirty="0">
                <a:solidFill>
                  <a:schemeClr val="tx1"/>
                </a:solidFill>
              </a:rPr>
              <a:t>Dataset loaded and inspected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3400" dirty="0">
                <a:solidFill>
                  <a:schemeClr val="tx1"/>
                </a:solidFill>
              </a:rPr>
              <a:t>Exploratory Data Analysis (EDA) performed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3400" dirty="0">
                <a:solidFill>
                  <a:schemeClr val="tx1"/>
                </a:solidFill>
              </a:rPr>
              <a:t>Created </a:t>
            </a:r>
            <a:r>
              <a:rPr lang="en-IN" sz="3400" b="1" dirty="0" smtClean="0">
                <a:solidFill>
                  <a:schemeClr val="tx1"/>
                </a:solidFill>
              </a:rPr>
              <a:t>Risk Level</a:t>
            </a:r>
            <a:r>
              <a:rPr lang="en-IN" sz="3400" dirty="0" smtClean="0">
                <a:solidFill>
                  <a:schemeClr val="tx1"/>
                </a:solidFill>
              </a:rPr>
              <a:t> </a:t>
            </a:r>
            <a:r>
              <a:rPr lang="en-IN" sz="3400" dirty="0">
                <a:solidFill>
                  <a:schemeClr val="tx1"/>
                </a:solidFill>
              </a:rPr>
              <a:t>from accident severity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3400" dirty="0">
                <a:solidFill>
                  <a:schemeClr val="tx1"/>
                </a:solidFill>
              </a:rPr>
              <a:t>Extracted time features (</a:t>
            </a:r>
            <a:r>
              <a:rPr lang="en-IN" sz="3400" dirty="0" smtClean="0">
                <a:solidFill>
                  <a:schemeClr val="tx1"/>
                </a:solidFill>
              </a:rPr>
              <a:t>e.g.11, </a:t>
            </a:r>
            <a:r>
              <a:rPr lang="en-IN" sz="3400" dirty="0">
                <a:solidFill>
                  <a:schemeClr val="tx1"/>
                </a:solidFill>
              </a:rPr>
              <a:t>hour)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3400" dirty="0">
                <a:solidFill>
                  <a:schemeClr val="tx1"/>
                </a:solidFill>
              </a:rPr>
              <a:t>Missing values handled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="" xmlns:a16="http://schemas.microsoft.com/office/drawing/2014/main" id="{A7C42391-47D4-38F4-7BF4-9DAC730B9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575053"/>
            <a:ext cx="5858673" cy="644525"/>
          </a:xfrm>
        </p:spPr>
        <p:txBody>
          <a:bodyPr/>
          <a:lstStyle/>
          <a:p>
            <a:r>
              <a:rPr lang="en-IN" dirty="0"/>
              <a:t>Model </a:t>
            </a:r>
            <a:r>
              <a:rPr lang="en-IN" dirty="0" smtClean="0"/>
              <a:t>Pipeline</a:t>
            </a:r>
            <a:endParaRPr lang="en-IN" dirty="0"/>
          </a:p>
        </p:txBody>
      </p:sp>
      <p:sp>
        <p:nvSpPr>
          <p:cNvPr id="7" name="Rectangle 1">
            <a:extLst>
              <a:ext uri="{FF2B5EF4-FFF2-40B4-BE49-F238E27FC236}">
                <a16:creationId xmlns="" xmlns:a16="http://schemas.microsoft.com/office/drawing/2014/main" id="{11A759B3-595F-E923-A9FC-4E45D2B6D03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60400" y="1596264"/>
            <a:ext cx="547370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b="1" u="sng" dirty="0" err="1">
                <a:solidFill>
                  <a:schemeClr val="tx1"/>
                </a:solidFill>
              </a:rPr>
              <a:t>Preprocessing</a:t>
            </a:r>
            <a:endParaRPr lang="en-IN" u="sng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 smtClean="0">
                <a:solidFill>
                  <a:schemeClr val="tx1"/>
                </a:solidFill>
              </a:rPr>
              <a:t>Model </a:t>
            </a:r>
            <a:r>
              <a:rPr lang="en-IN" dirty="0" smtClean="0">
                <a:solidFill>
                  <a:schemeClr val="tx1"/>
                </a:solidFill>
              </a:rPr>
              <a:t>predicts</a:t>
            </a:r>
            <a:r>
              <a:rPr lang="en-IN" dirty="0" smtClean="0">
                <a:solidFill>
                  <a:schemeClr val="tx1"/>
                </a:solidFill>
              </a:rPr>
              <a:t> </a:t>
            </a:r>
            <a:r>
              <a:rPr lang="en-IN" dirty="0" smtClean="0">
                <a:solidFill>
                  <a:schemeClr val="tx1"/>
                </a:solidFill>
              </a:rPr>
              <a:t>for unseen </a:t>
            </a:r>
            <a:r>
              <a:rPr lang="en-IN" dirty="0" smtClean="0">
                <a:solidFill>
                  <a:schemeClr val="tx1"/>
                </a:solidFill>
              </a:rPr>
              <a:t>data. </a:t>
            </a:r>
            <a:endParaRPr lang="en-IN" dirty="0" smtClean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 smtClean="0">
                <a:solidFill>
                  <a:schemeClr val="tx1"/>
                </a:solidFill>
              </a:rPr>
              <a:t>Standardscaler </a:t>
            </a:r>
            <a:r>
              <a:rPr lang="en-IN" dirty="0">
                <a:solidFill>
                  <a:schemeClr val="tx1"/>
                </a:solidFill>
              </a:rPr>
              <a:t>for numerical features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Dataset split: </a:t>
            </a:r>
            <a:r>
              <a:rPr lang="en-IN" b="1" dirty="0">
                <a:solidFill>
                  <a:schemeClr val="tx1"/>
                </a:solidFill>
              </a:rPr>
              <a:t>70% training, 30% </a:t>
            </a:r>
            <a:r>
              <a:rPr lang="en-IN" b="1" dirty="0" smtClean="0">
                <a:solidFill>
                  <a:schemeClr val="tx1"/>
                </a:solidFill>
              </a:rPr>
              <a:t>testing</a:t>
            </a:r>
          </a:p>
          <a:p>
            <a:endParaRPr lang="en-IN" dirty="0">
              <a:solidFill>
                <a:schemeClr val="tx1"/>
              </a:solidFill>
            </a:endParaRPr>
          </a:p>
          <a:p>
            <a:r>
              <a:rPr lang="en-IN" b="1" u="sng" dirty="0">
                <a:solidFill>
                  <a:schemeClr val="tx1"/>
                </a:solidFill>
              </a:rPr>
              <a:t>Model Training &amp; Prediction</a:t>
            </a:r>
            <a:endParaRPr lang="en-IN" u="sng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Random Forest Classifier trained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Model predicts accident risk levels on test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852150" y="514104"/>
            <a:ext cx="7239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    </a:t>
            </a:r>
            <a:fld id="{48F63A3B-78C7-47BE-AE5E-E10140E04643}" type="slidenum">
              <a:rPr lang="en-US" b="1" smtClean="0">
                <a:solidFill>
                  <a:schemeClr val="accent6"/>
                </a:solidFill>
              </a:rPr>
              <a:pPr/>
              <a:t>10</a:t>
            </a:fld>
            <a:endParaRPr lang="en-IN" b="1" dirty="0">
              <a:solidFill>
                <a:schemeClr val="accent6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="" xmlns:a16="http://schemas.microsoft.com/office/drawing/2014/main" id="{4730A324-0737-F0DA-1F7D-10CBE06D7C3F}"/>
              </a:ext>
            </a:extLst>
          </p:cNvPr>
          <p:cNvSpPr txBox="1">
            <a:spLocks/>
          </p:cNvSpPr>
          <p:nvPr/>
        </p:nvSpPr>
        <p:spPr>
          <a:xfrm>
            <a:off x="6430173" y="559198"/>
            <a:ext cx="4783927" cy="660380"/>
          </a:xfrm>
          <a:prstGeom prst="rect">
            <a:avLst/>
          </a:prstGeom>
        </p:spPr>
        <p:txBody>
          <a:bodyPr vert="horz" lIns="91440" tIns="0" rIns="9144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 smtClean="0"/>
              <a:t>Evaluation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6604000" y="1396832"/>
            <a:ext cx="52197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b="1" u="sng" dirty="0" smtClean="0"/>
              <a:t>Model </a:t>
            </a:r>
            <a:r>
              <a:rPr lang="fr-FR" sz="2400" b="1" u="sng" dirty="0"/>
              <a:t>Evaluation</a:t>
            </a:r>
            <a:endParaRPr lang="fr-FR" sz="2400" u="sng" dirty="0"/>
          </a:p>
          <a:p>
            <a:pPr>
              <a:buFont typeface="Arial" panose="020B0604020202020204" pitchFamily="34" charset="0"/>
              <a:buChar char="•"/>
            </a:pPr>
            <a:r>
              <a:rPr lang="fr-FR" sz="2400" dirty="0"/>
              <a:t>Accuracy score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400" dirty="0"/>
              <a:t>Classification report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400" dirty="0"/>
              <a:t>Confusion matrix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400" dirty="0"/>
              <a:t>Feature importance analyses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4730A324-0737-F0DA-1F7D-10CBE06D7C3F}"/>
              </a:ext>
            </a:extLst>
          </p:cNvPr>
          <p:cNvSpPr txBox="1">
            <a:spLocks/>
          </p:cNvSpPr>
          <p:nvPr/>
        </p:nvSpPr>
        <p:spPr>
          <a:xfrm>
            <a:off x="6250559" y="3653781"/>
            <a:ext cx="5573141" cy="704321"/>
          </a:xfrm>
          <a:prstGeom prst="rect">
            <a:avLst/>
          </a:prstGeom>
        </p:spPr>
        <p:txBody>
          <a:bodyPr vert="horz" lIns="91440" tIns="0" rIns="9144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Alert Generation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6318721" y="4676059"/>
            <a:ext cx="550497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/>
              <a:t>High-risk predictions trigger warnings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/>
              <a:t>Suggest safer routes or precautionary actions</a:t>
            </a:r>
          </a:p>
        </p:txBody>
      </p:sp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730A324-0737-F0DA-1F7D-10CBE06D7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630939"/>
            <a:ext cx="11248226" cy="660380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IN" dirty="0"/>
              <a:t>Training Strategy – Random </a:t>
            </a:r>
            <a:r>
              <a:rPr lang="en-IN" dirty="0" smtClean="0"/>
              <a:t>Forest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AC21286A-7B29-3B58-1636-0F45723890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146629" y="1400177"/>
            <a:ext cx="11045371" cy="54476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400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Model Setup</a:t>
            </a:r>
            <a:endParaRPr lang="en-IN" sz="24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Trees: 100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Max depth: 10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Min samples per split: 10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Min samples per leaf: 5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Feature selection: √features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Random state: 42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Parallel training enabled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400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Data Split</a:t>
            </a:r>
            <a:endParaRPr lang="en-IN" sz="24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70% Training / 30% Testing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Stratified to preserve risk-level distribution</a:t>
            </a:r>
            <a:endParaRPr lang="en-IN" sz="24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6213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AC21286A-7B29-3B58-1636-0F45723890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12800" y="928688"/>
            <a:ext cx="11045371" cy="63137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800" b="1" u="sng" dirty="0" smtClean="0"/>
              <a:t>Over fitting </a:t>
            </a:r>
            <a:r>
              <a:rPr lang="en-IN" sz="2800" b="1" u="sng" dirty="0"/>
              <a:t>Control</a:t>
            </a:r>
            <a:endParaRPr lang="en-IN" sz="2800" u="sng" dirty="0"/>
          </a:p>
          <a:p>
            <a:pPr lvl="0">
              <a:lnSpc>
                <a:spcPct val="150000"/>
              </a:lnSpc>
            </a:pPr>
            <a:r>
              <a:rPr lang="en-IN" sz="2800" dirty="0"/>
              <a:t>Limited tree depth</a:t>
            </a:r>
          </a:p>
          <a:p>
            <a:pPr lvl="0">
              <a:lnSpc>
                <a:spcPct val="150000"/>
              </a:lnSpc>
            </a:pPr>
            <a:r>
              <a:rPr lang="en-IN" sz="2800" dirty="0"/>
              <a:t>Minimum sample constraints</a:t>
            </a:r>
          </a:p>
          <a:p>
            <a:pPr lvl="0">
              <a:lnSpc>
                <a:spcPct val="150000"/>
              </a:lnSpc>
            </a:pPr>
            <a:r>
              <a:rPr lang="en-IN" sz="2800" dirty="0"/>
              <a:t>Bootstrap sampling (bagging)</a:t>
            </a:r>
          </a:p>
          <a:p>
            <a:pPr lvl="0">
              <a:lnSpc>
                <a:spcPct val="150000"/>
              </a:lnSpc>
            </a:pPr>
            <a:r>
              <a:rPr lang="en-IN" sz="2800" dirty="0"/>
              <a:t>Feature randomness</a:t>
            </a:r>
          </a:p>
          <a:p>
            <a:pPr lvl="0">
              <a:lnSpc>
                <a:spcPct val="150000"/>
              </a:lnSpc>
            </a:pPr>
            <a:r>
              <a:rPr lang="en-IN" sz="2800" dirty="0"/>
              <a:t>Ensemble averaging</a:t>
            </a:r>
          </a:p>
          <a:p>
            <a:pPr>
              <a:lnSpc>
                <a:spcPct val="150000"/>
              </a:lnSpc>
            </a:pPr>
            <a:r>
              <a:rPr lang="en-IN" sz="2800" b="1" u="sng" dirty="0"/>
              <a:t>Result:</a:t>
            </a:r>
            <a:r>
              <a:rPr lang="en-IN" sz="2800" dirty="0"/>
              <a:t/>
            </a:r>
            <a:br>
              <a:rPr lang="en-IN" sz="2800" dirty="0"/>
            </a:br>
            <a:r>
              <a:rPr lang="en-IN" sz="2800" dirty="0"/>
              <a:t>Robust model with strong generalization and reliable evaluation.</a:t>
            </a:r>
            <a:r>
              <a:rPr lang="en-IN" sz="2400" dirty="0"/>
              <a:t/>
            </a:r>
            <a:br>
              <a:rPr lang="en-IN" sz="2400" dirty="0"/>
            </a:br>
            <a:r>
              <a:rPr lang="en-IN" sz="2400" dirty="0"/>
              <a:t/>
            </a:r>
            <a:br>
              <a:rPr lang="en-IN" sz="2400" dirty="0"/>
            </a:b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8444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849782"/>
            <a:ext cx="8559799" cy="2727709"/>
          </a:xfrm>
        </p:spPr>
        <p:txBody>
          <a:bodyPr/>
          <a:lstStyle/>
          <a:p>
            <a:r>
              <a:rPr lang="en-US" dirty="0"/>
              <a:t>Thank </a:t>
            </a:r>
            <a:r>
              <a:rPr lang="en-US" dirty="0" smtClean="0"/>
              <a:t>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{D988F4F4-C54E-4511-B713-325CC7A73C05}TF8a9b5915-b8c7-461e-8cdd-693d48b5e32371f7b7e2_win32-4bf0b9a2ea37</Template>
  <TotalTime>176</TotalTime>
  <Words>297</Words>
  <Application>Microsoft Office PowerPoint</Application>
  <PresentationFormat>Widescreen</PresentationFormat>
  <Paragraphs>102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Arial</vt:lpstr>
      <vt:lpstr>Arial Black</vt:lpstr>
      <vt:lpstr>Calibri</vt:lpstr>
      <vt:lpstr>Cambria Math</vt:lpstr>
      <vt:lpstr>Sabon Next LT</vt:lpstr>
      <vt:lpstr>Symbol</vt:lpstr>
      <vt:lpstr>Times New Roman</vt:lpstr>
      <vt:lpstr>Wingdings</vt:lpstr>
      <vt:lpstr>Custom</vt:lpstr>
      <vt:lpstr>Proactive road monitoring  -team 13</vt:lpstr>
      <vt:lpstr> Review-2:  Mathematical Foundation &amp; Implementation   </vt:lpstr>
      <vt:lpstr>MATHEMATICAL DERIVATION</vt:lpstr>
      <vt:lpstr>Information gain &amp; objective</vt:lpstr>
      <vt:lpstr>Random Forest Mathematics (Bagging)</vt:lpstr>
      <vt:lpstr>Training Workflow (Data Flow)</vt:lpstr>
      <vt:lpstr>         Tree Learning Process</vt:lpstr>
      <vt:lpstr>PowerPoint Presentation</vt:lpstr>
      <vt:lpstr>PYTHON IMPLEMENTATION </vt:lpstr>
      <vt:lpstr>Model Pipeline</vt:lpstr>
      <vt:lpstr>Training Strategy – Random Forest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Proactive road monitoring  -team 13</dc:title>
  <dc:subject/>
  <dc:creator>Riddhi Lahoti</dc:creator>
  <cp:lastModifiedBy>hp</cp:lastModifiedBy>
  <cp:revision>10</cp:revision>
  <dcterms:created xsi:type="dcterms:W3CDTF">2026-02-07T12:40:11Z</dcterms:created>
  <dcterms:modified xsi:type="dcterms:W3CDTF">2026-02-07T17:38:26Z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